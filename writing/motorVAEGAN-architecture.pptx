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"/>
  </p:notesMasterIdLst>
  <p:sldIdLst>
    <p:sldId id="258" r:id="rId2"/>
  </p:sldIdLst>
  <p:sldSz cx="13716000" cy="6172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B168"/>
    <a:srgbClr val="BDC461"/>
    <a:srgbClr val="FFEC91"/>
    <a:srgbClr val="FF6B6B"/>
    <a:srgbClr val="51CF66"/>
    <a:srgbClr val="4CAB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42"/>
    <p:restoredTop sz="92543"/>
  </p:normalViewPr>
  <p:slideViewPr>
    <p:cSldViewPr snapToGrid="0">
      <p:cViewPr varScale="1">
        <p:scale>
          <a:sx n="106" d="100"/>
          <a:sy n="106" d="100"/>
        </p:scale>
        <p:origin x="200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39EC76-433C-784E-AD31-1634F419B4DC}" type="datetimeFigureOut">
              <a:rPr lang="en-US" smtClean="0"/>
              <a:t>4/21/25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0" y="1143000"/>
            <a:ext cx="6858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C40E42-1A6C-0B4F-B52E-58374DBE5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883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1143000"/>
            <a:ext cx="68580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C40E42-1A6C-0B4F-B52E-58374DBE530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694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500" y="1010127"/>
            <a:ext cx="10287000" cy="214884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3241834"/>
            <a:ext cx="10287000" cy="1490186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80" indent="0" algn="ctr">
              <a:buNone/>
              <a:defRPr sz="1800"/>
            </a:lvl2pPr>
            <a:lvl3pPr marL="822960" indent="0" algn="ctr">
              <a:buNone/>
              <a:defRPr sz="1620"/>
            </a:lvl3pPr>
            <a:lvl4pPr marL="1234440" indent="0" algn="ctr">
              <a:buNone/>
              <a:defRPr sz="1440"/>
            </a:lvl4pPr>
            <a:lvl5pPr marL="1645920" indent="0" algn="ctr">
              <a:buNone/>
              <a:defRPr sz="1440"/>
            </a:lvl5pPr>
            <a:lvl6pPr marL="2057400" indent="0" algn="ctr">
              <a:buNone/>
              <a:defRPr sz="1440"/>
            </a:lvl6pPr>
            <a:lvl7pPr marL="2468880" indent="0" algn="ctr">
              <a:buNone/>
              <a:defRPr sz="1440"/>
            </a:lvl7pPr>
            <a:lvl8pPr marL="2880360" indent="0" algn="ctr">
              <a:buNone/>
              <a:defRPr sz="1440"/>
            </a:lvl8pPr>
            <a:lvl9pPr marL="3291840" indent="0" algn="ctr">
              <a:buNone/>
              <a:defRPr sz="14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DA66B-131B-3A46-A334-2272A02F8BDA}" type="datetimeFigureOut">
              <a:rPr lang="en-US" smtClean="0"/>
              <a:t>4/21/25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F1C5F-E8EC-C54B-9343-822EB29D0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449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DA66B-131B-3A46-A334-2272A02F8BDA}" type="datetimeFigureOut">
              <a:rPr lang="en-US" smtClean="0"/>
              <a:t>4/21/25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F1C5F-E8EC-C54B-9343-822EB29D0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519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1" y="1538765"/>
            <a:ext cx="11830050" cy="2567463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1" y="4130517"/>
            <a:ext cx="11830050" cy="1350168"/>
          </a:xfrm>
        </p:spPr>
        <p:txBody>
          <a:bodyPr/>
          <a:lstStyle>
            <a:lvl1pPr marL="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1pPr>
            <a:lvl2pPr marL="41148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2pPr>
            <a:lvl3pPr marL="822960" indent="0">
              <a:buNone/>
              <a:defRPr sz="1620">
                <a:solidFill>
                  <a:schemeClr val="tx1">
                    <a:tint val="82000"/>
                  </a:schemeClr>
                </a:solidFill>
              </a:defRPr>
            </a:lvl3pPr>
            <a:lvl4pPr marL="123444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4pPr>
            <a:lvl5pPr marL="164592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5pPr>
            <a:lvl6pPr marL="205740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6pPr>
            <a:lvl7pPr marL="246888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7pPr>
            <a:lvl8pPr marL="288036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8pPr>
            <a:lvl9pPr marL="329184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DA66B-131B-3A46-A334-2272A02F8BDA}" type="datetimeFigureOut">
              <a:rPr lang="en-US" smtClean="0"/>
              <a:t>4/21/25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F1C5F-E8EC-C54B-9343-822EB29D0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796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1643063"/>
            <a:ext cx="5829300" cy="39162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5" y="1643063"/>
            <a:ext cx="5829300" cy="39162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DA66B-131B-3A46-A334-2272A02F8BDA}" type="datetimeFigureOut">
              <a:rPr lang="en-US" smtClean="0"/>
              <a:t>4/21/25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F1C5F-E8EC-C54B-9343-822EB29D0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477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1" y="328613"/>
            <a:ext cx="11830050" cy="119300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2" y="1513047"/>
            <a:ext cx="5802510" cy="741521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2" y="2254568"/>
            <a:ext cx="5802510" cy="33161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5" y="1513047"/>
            <a:ext cx="5831087" cy="741521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5" y="2254568"/>
            <a:ext cx="5831087" cy="33161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DA66B-131B-3A46-A334-2272A02F8BDA}" type="datetimeFigureOut">
              <a:rPr lang="en-US" smtClean="0"/>
              <a:t>4/21/25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F1C5F-E8EC-C54B-9343-822EB29D0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784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DA66B-131B-3A46-A334-2272A02F8BDA}" type="datetimeFigureOut">
              <a:rPr lang="en-US" smtClean="0"/>
              <a:t>4/21/25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F1C5F-E8EC-C54B-9343-822EB29D0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826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DA66B-131B-3A46-A334-2272A02F8BDA}" type="datetimeFigureOut">
              <a:rPr lang="en-US" smtClean="0"/>
              <a:t>4/21/25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F1C5F-E8EC-C54B-9343-822EB29D0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168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411480"/>
            <a:ext cx="4423767" cy="144018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6" y="888683"/>
            <a:ext cx="6943725" cy="4386263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1851660"/>
            <a:ext cx="4423767" cy="3430429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DA66B-131B-3A46-A334-2272A02F8BDA}" type="datetimeFigureOut">
              <a:rPr lang="en-US" smtClean="0"/>
              <a:t>4/21/25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F1C5F-E8EC-C54B-9343-822EB29D0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252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411480"/>
            <a:ext cx="4423767" cy="144018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31086" y="888683"/>
            <a:ext cx="6943725" cy="4386263"/>
          </a:xfrm>
        </p:spPr>
        <p:txBody>
          <a:bodyPr anchor="t"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1851660"/>
            <a:ext cx="4423767" cy="3430429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DA66B-131B-3A46-A334-2272A02F8BDA}" type="datetimeFigureOut">
              <a:rPr lang="en-US" smtClean="0"/>
              <a:t>4/21/25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F1C5F-E8EC-C54B-9343-822EB29D0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52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DA66B-131B-3A46-A334-2272A02F8BDA}" type="datetimeFigureOut">
              <a:rPr lang="en-US" smtClean="0"/>
              <a:t>4/21/25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F1C5F-E8EC-C54B-9343-822EB29D0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91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2" y="328613"/>
            <a:ext cx="2957513" cy="523065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5" y="328613"/>
            <a:ext cx="8701088" cy="523065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DA66B-131B-3A46-A334-2272A02F8BDA}" type="datetimeFigureOut">
              <a:rPr lang="en-US" smtClean="0"/>
              <a:t>4/21/25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F1C5F-E8EC-C54B-9343-822EB29D0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17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328613"/>
            <a:ext cx="11830050" cy="1193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1643063"/>
            <a:ext cx="11830050" cy="3916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5720715"/>
            <a:ext cx="3086100" cy="328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EDA66B-131B-3A46-A334-2272A02F8BDA}" type="datetimeFigureOut">
              <a:rPr lang="en-US" smtClean="0"/>
              <a:t>4/21/25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5720715"/>
            <a:ext cx="4629150" cy="328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5720715"/>
            <a:ext cx="3086100" cy="328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0F1C5F-E8EC-C54B-9343-822EB29D0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358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822960" rtl="0" eaLnBrk="1" latinLnBrk="0" hangingPunct="1">
        <a:lnSpc>
          <a:spcPct val="90000"/>
        </a:lnSpc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5740" indent="-205740" algn="l" defTabSz="82296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172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6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A38328F-CC53-2995-C10D-3553B3032972}"/>
              </a:ext>
            </a:extLst>
          </p:cNvPr>
          <p:cNvCxnSpPr>
            <a:cxnSpLocks/>
            <a:stCxn id="3" idx="2"/>
            <a:endCxn id="53" idx="0"/>
          </p:cNvCxnSpPr>
          <p:nvPr/>
        </p:nvCxnSpPr>
        <p:spPr>
          <a:xfrm flipH="1">
            <a:off x="2807499" y="3663612"/>
            <a:ext cx="1888879" cy="436595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4F7CEAD-E7B9-E6CC-B2ED-7A56E2C3B73C}"/>
              </a:ext>
            </a:extLst>
          </p:cNvPr>
          <p:cNvCxnSpPr>
            <a:cxnSpLocks/>
            <a:stCxn id="3" idx="2"/>
            <a:endCxn id="56" idx="0"/>
          </p:cNvCxnSpPr>
          <p:nvPr/>
        </p:nvCxnSpPr>
        <p:spPr>
          <a:xfrm>
            <a:off x="4696378" y="3663612"/>
            <a:ext cx="639075" cy="436595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4" name="Straight Connector 1023">
            <a:extLst>
              <a:ext uri="{FF2B5EF4-FFF2-40B4-BE49-F238E27FC236}">
                <a16:creationId xmlns:a16="http://schemas.microsoft.com/office/drawing/2014/main" id="{DA7A6425-D3BC-131A-C51E-3948455BD3C6}"/>
              </a:ext>
            </a:extLst>
          </p:cNvPr>
          <p:cNvCxnSpPr>
            <a:cxnSpLocks/>
            <a:stCxn id="53" idx="2"/>
            <a:endCxn id="21" idx="0"/>
          </p:cNvCxnSpPr>
          <p:nvPr/>
        </p:nvCxnSpPr>
        <p:spPr>
          <a:xfrm>
            <a:off x="2807499" y="5132577"/>
            <a:ext cx="1263978" cy="143411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9" name="Straight Connector 1028">
            <a:extLst>
              <a:ext uri="{FF2B5EF4-FFF2-40B4-BE49-F238E27FC236}">
                <a16:creationId xmlns:a16="http://schemas.microsoft.com/office/drawing/2014/main" id="{7BE9A4B7-2DA9-6B1B-EF8B-BD067BBD308F}"/>
              </a:ext>
            </a:extLst>
          </p:cNvPr>
          <p:cNvCxnSpPr>
            <a:cxnSpLocks/>
            <a:stCxn id="56" idx="2"/>
            <a:endCxn id="21" idx="0"/>
          </p:cNvCxnSpPr>
          <p:nvPr/>
        </p:nvCxnSpPr>
        <p:spPr>
          <a:xfrm flipH="1">
            <a:off x="4071477" y="5132577"/>
            <a:ext cx="1263976" cy="143411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9" name="Straight Connector 1088">
            <a:extLst>
              <a:ext uri="{FF2B5EF4-FFF2-40B4-BE49-F238E27FC236}">
                <a16:creationId xmlns:a16="http://schemas.microsoft.com/office/drawing/2014/main" id="{A975A3A9-CB56-E065-8DA2-D981D6E67E7C}"/>
              </a:ext>
            </a:extLst>
          </p:cNvPr>
          <p:cNvCxnSpPr>
            <a:cxnSpLocks/>
            <a:stCxn id="3" idx="2"/>
            <a:endCxn id="1086" idx="0"/>
          </p:cNvCxnSpPr>
          <p:nvPr/>
        </p:nvCxnSpPr>
        <p:spPr>
          <a:xfrm>
            <a:off x="4696378" y="3663612"/>
            <a:ext cx="4421975" cy="109935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4A242F1-B928-B257-118B-B13EA3A3766D}"/>
              </a:ext>
            </a:extLst>
          </p:cNvPr>
          <p:cNvSpPr/>
          <p:nvPr/>
        </p:nvSpPr>
        <p:spPr>
          <a:xfrm>
            <a:off x="3946357" y="1626236"/>
            <a:ext cx="1500042" cy="203737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00" name="Straight Connector 1099">
            <a:extLst>
              <a:ext uri="{FF2B5EF4-FFF2-40B4-BE49-F238E27FC236}">
                <a16:creationId xmlns:a16="http://schemas.microsoft.com/office/drawing/2014/main" id="{75DDB291-3A22-54F2-F60D-5857D8FA0E29}"/>
              </a:ext>
            </a:extLst>
          </p:cNvPr>
          <p:cNvCxnSpPr>
            <a:cxnSpLocks/>
            <a:stCxn id="1037" idx="2"/>
            <a:endCxn id="1087" idx="0"/>
          </p:cNvCxnSpPr>
          <p:nvPr/>
        </p:nvCxnSpPr>
        <p:spPr>
          <a:xfrm flipH="1">
            <a:off x="12386098" y="3804959"/>
            <a:ext cx="39516" cy="1471029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0" name="Straight Connector 1089">
            <a:extLst>
              <a:ext uri="{FF2B5EF4-FFF2-40B4-BE49-F238E27FC236}">
                <a16:creationId xmlns:a16="http://schemas.microsoft.com/office/drawing/2014/main" id="{C6D753D9-DF60-B3FB-58D5-F866F9D39AF3}"/>
              </a:ext>
            </a:extLst>
          </p:cNvPr>
          <p:cNvCxnSpPr>
            <a:cxnSpLocks/>
            <a:stCxn id="1025" idx="2"/>
            <a:endCxn id="1086" idx="0"/>
          </p:cNvCxnSpPr>
          <p:nvPr/>
        </p:nvCxnSpPr>
        <p:spPr>
          <a:xfrm flipH="1">
            <a:off x="9118353" y="4064323"/>
            <a:ext cx="1200334" cy="698639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3" name="Straight Connector 1092">
            <a:extLst>
              <a:ext uri="{FF2B5EF4-FFF2-40B4-BE49-F238E27FC236}">
                <a16:creationId xmlns:a16="http://schemas.microsoft.com/office/drawing/2014/main" id="{E5B37549-18E8-B37E-1572-EE0EB4B8FFFE}"/>
              </a:ext>
            </a:extLst>
          </p:cNvPr>
          <p:cNvCxnSpPr>
            <a:cxnSpLocks/>
            <a:stCxn id="1037" idx="2"/>
            <a:endCxn id="1086" idx="0"/>
          </p:cNvCxnSpPr>
          <p:nvPr/>
        </p:nvCxnSpPr>
        <p:spPr>
          <a:xfrm flipH="1">
            <a:off x="9118353" y="3804959"/>
            <a:ext cx="3307261" cy="958003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silver car with black wheels&#10;&#10;Description automatically generated">
            <a:extLst>
              <a:ext uri="{FF2B5EF4-FFF2-40B4-BE49-F238E27FC236}">
                <a16:creationId xmlns:a16="http://schemas.microsoft.com/office/drawing/2014/main" id="{C34729D7-0DA0-59A9-AAD2-8BA72CEF5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97" y="2225538"/>
            <a:ext cx="1039077" cy="103907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5EC6893-3346-EB6F-F076-8EE94BA8478A}"/>
                  </a:ext>
                </a:extLst>
              </p:cNvPr>
              <p:cNvSpPr txBox="1"/>
              <p:nvPr/>
            </p:nvSpPr>
            <p:spPr>
              <a:xfrm>
                <a:off x="36889" y="1757238"/>
                <a:ext cx="12489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Input Image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256×256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×1</m:t>
                    </m:r>
                  </m:oMath>
                </a14:m>
                <a:r>
                  <a:rPr lang="en-US" sz="1200" dirty="0"/>
                  <a:t> d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5EC6893-3346-EB6F-F076-8EE94BA84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89" y="1757238"/>
                <a:ext cx="1248936" cy="461665"/>
              </a:xfrm>
              <a:prstGeom prst="rect">
                <a:avLst/>
              </a:prstGeom>
              <a:blipFill>
                <a:blip r:embed="rId4"/>
                <a:stretch>
                  <a:fillRect b="-10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4EE5106-471D-EED9-15DF-DF5A56743E48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1176175" y="2745073"/>
            <a:ext cx="32152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ED259E03-7060-A7F9-2CC7-2C14C278F33E}"/>
                  </a:ext>
                </a:extLst>
              </p:cNvPr>
              <p:cNvSpPr/>
              <p:nvPr/>
            </p:nvSpPr>
            <p:spPr>
              <a:xfrm>
                <a:off x="1497699" y="1676284"/>
                <a:ext cx="2297151" cy="2137583"/>
              </a:xfrm>
              <a:prstGeom prst="roundRect">
                <a:avLst/>
              </a:prstGeom>
              <a:solidFill>
                <a:srgbClr val="4CABF8"/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1200" b="1" u="sng" dirty="0">
                    <a:solidFill>
                      <a:schemeClr val="tx1"/>
                    </a:solidFill>
                  </a:rPr>
                  <a:t>Encoder</a:t>
                </a:r>
              </a:p>
              <a:p>
                <a:pPr algn="ctr"/>
                <a:endParaRPr lang="en-US" sz="12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Conv2d Layers</a:t>
                </a: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32→64→128→256→512</a:t>
                </a:r>
              </a:p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</a:rPr>
                  <a:t>BatchNorm</a:t>
                </a:r>
                <a:r>
                  <a:rPr lang="en-US" sz="1200" dirty="0">
                    <a:solidFill>
                      <a:schemeClr val="tx1"/>
                    </a:solidFill>
                  </a:rPr>
                  <a:t> + </a:t>
                </a:r>
                <a:r>
                  <a:rPr lang="en-US" sz="1200" dirty="0" err="1">
                    <a:solidFill>
                      <a:schemeClr val="tx1"/>
                    </a:solidFill>
                  </a:rPr>
                  <a:t>LeakyReLU</a:t>
                </a:r>
                <a:endParaRPr lang="en-US" sz="12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200" b="1" dirty="0">
                    <a:solidFill>
                      <a:schemeClr val="tx1"/>
                    </a:solidFill>
                  </a:rPr>
                  <a:t>Output: </a:t>
                </a:r>
                <a14:m>
                  <m:oMath xmlns:m="http://schemas.openxmlformats.org/officeDocument/2006/math">
                    <m:r>
                      <a:rPr lang="en-US" sz="1200" b="1" i="1">
                        <a:solidFill>
                          <a:schemeClr val="tx1"/>
                        </a:solidFill>
                      </a:rPr>
                      <m:t>𝟖</m:t>
                    </m:r>
                    <m:r>
                      <a:rPr lang="en-US" sz="1200" b="1" i="1">
                        <a:solidFill>
                          <a:schemeClr val="tx1"/>
                        </a:solidFill>
                      </a:rPr>
                      <m:t>×</m:t>
                    </m:r>
                    <m:r>
                      <a:rPr lang="en-US" sz="1200" b="1" i="1">
                        <a:solidFill>
                          <a:schemeClr val="tx1"/>
                        </a:solidFill>
                      </a:rPr>
                      <m:t>𝟖</m:t>
                    </m:r>
                    <m:r>
                      <a:rPr lang="en-US" sz="1200" b="1" i="1">
                        <a:solidFill>
                          <a:schemeClr val="tx1"/>
                        </a:solidFill>
                      </a:rPr>
                      <m:t>×</m:t>
                    </m:r>
                    <m:r>
                      <a:rPr lang="en-US" sz="1200" b="1" i="1">
                        <a:solidFill>
                          <a:schemeClr val="tx1"/>
                        </a:solidFill>
                      </a:rPr>
                      <m:t>𝟓𝟏𝟐</m:t>
                    </m:r>
                  </m:oMath>
                </a14:m>
                <a:r>
                  <a:rPr lang="en-US" sz="1200" b="1" dirty="0">
                    <a:solidFill>
                      <a:schemeClr val="tx1"/>
                    </a:solidFill>
                  </a:rPr>
                  <a:t> d</a:t>
                </a:r>
              </a:p>
            </p:txBody>
          </p:sp>
        </mc:Choice>
        <mc:Fallback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ED259E03-7060-A7F9-2CC7-2C14C278F3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699" y="1676284"/>
                <a:ext cx="2297151" cy="2137583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721A434A-CC9C-D063-56DE-6C9015B86396}"/>
                  </a:ext>
                </a:extLst>
              </p:cNvPr>
              <p:cNvSpPr/>
              <p:nvPr/>
            </p:nvSpPr>
            <p:spPr>
              <a:xfrm>
                <a:off x="4352405" y="2026233"/>
                <a:ext cx="713678" cy="646771"/>
              </a:xfrm>
              <a:prstGeom prst="roundRect">
                <a:avLst/>
              </a:prstGeom>
              <a:solidFill>
                <a:schemeClr val="accent5"/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sz="1200" dirty="0"/>
              </a:p>
              <a:p>
                <a:pPr algn="ctr"/>
                <a:r>
                  <a:rPr lang="en-US" sz="1200" dirty="0"/>
                  <a:t>(100 d)</a:t>
                </a:r>
              </a:p>
            </p:txBody>
          </p:sp>
        </mc:Choice>
        <mc:Fallback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721A434A-CC9C-D063-56DE-6C9015B863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2405" y="2026233"/>
                <a:ext cx="713678" cy="64677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1E345E9-7268-FDA1-3DCE-00F95FAEA4EA}"/>
              </a:ext>
            </a:extLst>
          </p:cNvPr>
          <p:cNvCxnSpPr>
            <a:cxnSpLocks/>
          </p:cNvCxnSpPr>
          <p:nvPr/>
        </p:nvCxnSpPr>
        <p:spPr>
          <a:xfrm>
            <a:off x="3794849" y="2349615"/>
            <a:ext cx="53525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986F2E5-EB73-6514-0BD5-CC2226D253F4}"/>
              </a:ext>
            </a:extLst>
          </p:cNvPr>
          <p:cNvSpPr txBox="1"/>
          <p:nvPr/>
        </p:nvSpPr>
        <p:spPr>
          <a:xfrm>
            <a:off x="3623076" y="2120091"/>
            <a:ext cx="828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Linear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8ABD90AE-3889-3B8C-21C9-17F5621458E2}"/>
                  </a:ext>
                </a:extLst>
              </p:cNvPr>
              <p:cNvSpPr/>
              <p:nvPr/>
            </p:nvSpPr>
            <p:spPr>
              <a:xfrm>
                <a:off x="4352405" y="2825094"/>
                <a:ext cx="713678" cy="646771"/>
              </a:xfrm>
              <a:prstGeom prst="roundRect">
                <a:avLst/>
              </a:prstGeom>
              <a:solidFill>
                <a:schemeClr val="accent5"/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sz="1200" dirty="0"/>
              </a:p>
              <a:p>
                <a:pPr algn="ctr"/>
                <a:r>
                  <a:rPr lang="en-US" sz="1200" dirty="0"/>
                  <a:t>(100 d)</a:t>
                </a:r>
              </a:p>
            </p:txBody>
          </p:sp>
        </mc:Choice>
        <mc:Fallback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8ABD90AE-3889-3B8C-21C9-17F5621458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2405" y="2825094"/>
                <a:ext cx="713678" cy="646771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D1B3E04-21D9-1233-E527-2BD9C5221AD8}"/>
              </a:ext>
            </a:extLst>
          </p:cNvPr>
          <p:cNvCxnSpPr>
            <a:cxnSpLocks/>
          </p:cNvCxnSpPr>
          <p:nvPr/>
        </p:nvCxnSpPr>
        <p:spPr>
          <a:xfrm>
            <a:off x="3794849" y="3148475"/>
            <a:ext cx="53525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4AF53E0-A7A5-A66C-7176-5549F9384F85}"/>
              </a:ext>
            </a:extLst>
          </p:cNvPr>
          <p:cNvSpPr txBox="1"/>
          <p:nvPr/>
        </p:nvSpPr>
        <p:spPr>
          <a:xfrm>
            <a:off x="3623076" y="2906134"/>
            <a:ext cx="828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Linear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99519B1-BFBD-D3B7-3A10-8A004977A0A5}"/>
              </a:ext>
            </a:extLst>
          </p:cNvPr>
          <p:cNvSpPr/>
          <p:nvPr/>
        </p:nvSpPr>
        <p:spPr>
          <a:xfrm>
            <a:off x="5255652" y="2194651"/>
            <a:ext cx="1097280" cy="1097280"/>
          </a:xfrm>
          <a:prstGeom prst="ellipse">
            <a:avLst/>
          </a:prstGeom>
          <a:solidFill>
            <a:schemeClr val="accent5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Sampled Latent Vector</a:t>
            </a:r>
          </a:p>
          <a:p>
            <a:pPr algn="ctr"/>
            <a:r>
              <a:rPr lang="en-US" sz="1200" dirty="0"/>
              <a:t>(100 d)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F190F6D-E69B-C150-4DF0-ABEEFB9B92AA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5066083" y="2347612"/>
            <a:ext cx="325314" cy="20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A16F906-514A-41A8-3971-22B1D653A3E3}"/>
              </a:ext>
            </a:extLst>
          </p:cNvPr>
          <p:cNvSpPr txBox="1"/>
          <p:nvPr/>
        </p:nvSpPr>
        <p:spPr>
          <a:xfrm>
            <a:off x="3911936" y="1687066"/>
            <a:ext cx="15946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u="sng" dirty="0">
                <a:solidFill>
                  <a:schemeClr val="accent5"/>
                </a:solidFill>
              </a:rPr>
              <a:t>Latent Distribution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8EE119F-9C04-D4D5-E078-123013A74AA2}"/>
              </a:ext>
            </a:extLst>
          </p:cNvPr>
          <p:cNvSpPr/>
          <p:nvPr/>
        </p:nvSpPr>
        <p:spPr>
          <a:xfrm>
            <a:off x="5255652" y="478951"/>
            <a:ext cx="1097280" cy="1097280"/>
          </a:xfrm>
          <a:prstGeom prst="ellipse">
            <a:avLst/>
          </a:prstGeom>
          <a:solidFill>
            <a:schemeClr val="accent5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Random</a:t>
            </a:r>
          </a:p>
          <a:p>
            <a:pPr algn="ctr"/>
            <a:r>
              <a:rPr lang="en-US" sz="1200" dirty="0"/>
              <a:t>Sampled Latent</a:t>
            </a:r>
          </a:p>
          <a:p>
            <a:pPr algn="ctr"/>
            <a:r>
              <a:rPr lang="en-US" sz="1200" dirty="0"/>
              <a:t>Vector</a:t>
            </a:r>
          </a:p>
          <a:p>
            <a:pPr algn="ctr"/>
            <a:r>
              <a:rPr lang="en-US" sz="1200" dirty="0"/>
              <a:t>(100 d)</a:t>
            </a:r>
          </a:p>
        </p:txBody>
      </p:sp>
      <p:pic>
        <p:nvPicPr>
          <p:cNvPr id="1030" name="Picture 6" descr="Gaussian Process">
            <a:extLst>
              <a:ext uri="{FF2B5EF4-FFF2-40B4-BE49-F238E27FC236}">
                <a16:creationId xmlns:a16="http://schemas.microsoft.com/office/drawing/2014/main" id="{63965F70-0A2A-E0F1-DF92-B40BCC01C6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3394" y="382299"/>
            <a:ext cx="2388807" cy="964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DEC2E7F2-FC09-5EBC-6DE5-F39FC19D9240}"/>
              </a:ext>
            </a:extLst>
          </p:cNvPr>
          <p:cNvSpPr txBox="1"/>
          <p:nvPr/>
        </p:nvSpPr>
        <p:spPr>
          <a:xfrm>
            <a:off x="2833394" y="118819"/>
            <a:ext cx="23888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u="sng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Standard Normal Prior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6B9B50D-787B-1710-DE73-BEF797A838E6}"/>
              </a:ext>
            </a:extLst>
          </p:cNvPr>
          <p:cNvCxnSpPr>
            <a:cxnSpLocks/>
            <a:endCxn id="29" idx="2"/>
          </p:cNvCxnSpPr>
          <p:nvPr/>
        </p:nvCxnSpPr>
        <p:spPr>
          <a:xfrm>
            <a:off x="4898814" y="1027591"/>
            <a:ext cx="35683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Rounded Rectangle 37">
                <a:extLst>
                  <a:ext uri="{FF2B5EF4-FFF2-40B4-BE49-F238E27FC236}">
                    <a16:creationId xmlns:a16="http://schemas.microsoft.com/office/drawing/2014/main" id="{8C4E29B0-5528-DEC7-482B-04A1DB853177}"/>
                  </a:ext>
                </a:extLst>
              </p:cNvPr>
              <p:cNvSpPr/>
              <p:nvPr/>
            </p:nvSpPr>
            <p:spPr>
              <a:xfrm>
                <a:off x="6877155" y="1676282"/>
                <a:ext cx="2468727" cy="2137583"/>
              </a:xfrm>
              <a:prstGeom prst="roundRect">
                <a:avLst/>
              </a:prstGeom>
              <a:solidFill>
                <a:srgbClr val="51CF66"/>
              </a:solidFill>
              <a:ln w="3810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1200" b="1" u="sng" dirty="0">
                    <a:solidFill>
                      <a:schemeClr val="tx1"/>
                    </a:solidFill>
                  </a:rPr>
                  <a:t>Decoder</a:t>
                </a:r>
              </a:p>
              <a:p>
                <a:pPr algn="ctr"/>
                <a:endParaRPr lang="en-US" sz="12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ConvTranspose2d Layers</a:t>
                </a: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512→256→128→64→32</a:t>
                </a:r>
              </a:p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</a:rPr>
                  <a:t>BatchNorm</a:t>
                </a:r>
                <a:r>
                  <a:rPr lang="en-US" sz="1200" dirty="0">
                    <a:solidFill>
                      <a:schemeClr val="tx1"/>
                    </a:solidFill>
                  </a:rPr>
                  <a:t> + </a:t>
                </a:r>
                <a:r>
                  <a:rPr lang="en-US" sz="1200" dirty="0" err="1">
                    <a:solidFill>
                      <a:schemeClr val="tx1"/>
                    </a:solidFill>
                  </a:rPr>
                  <a:t>LeakyReLU</a:t>
                </a:r>
                <a:endParaRPr lang="en-US" sz="12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Penult. Output: </a:t>
                </a:r>
                <a14:m>
                  <m:oMath xmlns:m="http://schemas.openxmlformats.org/officeDocument/2006/math">
                    <m:r>
                      <a:rPr lang="en-US" sz="1200" i="1" dirty="0">
                        <a:solidFill>
                          <a:schemeClr val="tx1"/>
                        </a:solidFill>
                      </a:rPr>
                      <m:t>256</m:t>
                    </m:r>
                    <m:r>
                      <a:rPr lang="en-US" sz="1200" i="1">
                        <a:solidFill>
                          <a:schemeClr val="tx1"/>
                        </a:solidFill>
                      </a:rPr>
                      <m:t>×256×32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 d</a:t>
                </a:r>
              </a:p>
              <a:p>
                <a:pPr algn="ctr"/>
                <a:endParaRPr lang="en-US" sz="12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Final Layer</a:t>
                </a: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Conv + Sigmoid</a:t>
                </a:r>
              </a:p>
              <a:p>
                <a:pPr algn="ctr"/>
                <a:r>
                  <a:rPr lang="en-US" sz="1200" b="1" dirty="0">
                    <a:solidFill>
                      <a:schemeClr val="tx1"/>
                    </a:solidFill>
                  </a:rPr>
                  <a:t>Output: </a:t>
                </a:r>
                <a14:m>
                  <m:oMath xmlns:m="http://schemas.openxmlformats.org/officeDocument/2006/math">
                    <m:r>
                      <a:rPr lang="en-US" sz="1200" b="1" i="1">
                        <a:solidFill>
                          <a:schemeClr val="tx1"/>
                        </a:solidFill>
                      </a:rPr>
                      <m:t>𝟐𝟓𝟔</m:t>
                    </m:r>
                    <m:r>
                      <a:rPr lang="en-US" sz="1200" b="1" i="1">
                        <a:solidFill>
                          <a:schemeClr val="tx1"/>
                        </a:solidFill>
                      </a:rPr>
                      <m:t>×</m:t>
                    </m:r>
                    <m:r>
                      <a:rPr lang="en-US" sz="1200" b="1" i="1">
                        <a:solidFill>
                          <a:schemeClr val="tx1"/>
                        </a:solidFill>
                      </a:rPr>
                      <m:t>𝟐𝟓𝟔</m:t>
                    </m:r>
                    <m:r>
                      <a:rPr lang="en-US" sz="1200" b="1" i="1">
                        <a:solidFill>
                          <a:schemeClr val="tx1"/>
                        </a:solidFill>
                      </a:rPr>
                      <m:t>×</m:t>
                    </m:r>
                    <m:r>
                      <a:rPr lang="en-US" sz="1200" b="1" i="1">
                        <a:solidFill>
                          <a:schemeClr val="tx1"/>
                        </a:solidFill>
                      </a:rPr>
                      <m:t>𝟏</m:t>
                    </m:r>
                  </m:oMath>
                </a14:m>
                <a:r>
                  <a:rPr lang="en-US" sz="1200" b="1" dirty="0">
                    <a:solidFill>
                      <a:schemeClr val="tx1"/>
                    </a:solidFill>
                  </a:rPr>
                  <a:t> d</a:t>
                </a:r>
              </a:p>
              <a:p>
                <a:pPr algn="ctr"/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8" name="Rounded Rectangle 37">
                <a:extLst>
                  <a:ext uri="{FF2B5EF4-FFF2-40B4-BE49-F238E27FC236}">
                    <a16:creationId xmlns:a16="http://schemas.microsoft.com/office/drawing/2014/main" id="{8C4E29B0-5528-DEC7-482B-04A1DB8531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7155" y="1676282"/>
                <a:ext cx="2468727" cy="2137583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 w="38100">
                <a:solidFill>
                  <a:schemeClr val="accent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C566B0E-E923-220D-0FBB-346F57BEDF3F}"/>
              </a:ext>
            </a:extLst>
          </p:cNvPr>
          <p:cNvCxnSpPr>
            <a:cxnSpLocks/>
            <a:stCxn id="19" idx="6"/>
            <a:endCxn id="38" idx="1"/>
          </p:cNvCxnSpPr>
          <p:nvPr/>
        </p:nvCxnSpPr>
        <p:spPr>
          <a:xfrm>
            <a:off x="6352932" y="2743291"/>
            <a:ext cx="524222" cy="178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EBDD7A2-9FD4-D7A5-5A8D-1E55939D1D86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6092382" y="1536433"/>
            <a:ext cx="784773" cy="1208640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5" name="Picture 1024" descr="A car on a white background&#10;&#10;Description automatically generated">
            <a:extLst>
              <a:ext uri="{FF2B5EF4-FFF2-40B4-BE49-F238E27FC236}">
                <a16:creationId xmlns:a16="http://schemas.microsoft.com/office/drawing/2014/main" id="{0D61CCB3-7A79-1A32-9808-63D9FCA75B5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97479" y="3021907"/>
            <a:ext cx="1042416" cy="104241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026" name="TextBox 1025">
            <a:extLst>
              <a:ext uri="{FF2B5EF4-FFF2-40B4-BE49-F238E27FC236}">
                <a16:creationId xmlns:a16="http://schemas.microsoft.com/office/drawing/2014/main" id="{C1CC6408-221F-D874-4313-82911EFC5DAF}"/>
              </a:ext>
            </a:extLst>
          </p:cNvPr>
          <p:cNvSpPr txBox="1"/>
          <p:nvPr/>
        </p:nvSpPr>
        <p:spPr>
          <a:xfrm>
            <a:off x="9629684" y="1163769"/>
            <a:ext cx="13751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Random Sample</a:t>
            </a:r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0A8F59BC-115C-AAEE-7C5D-C7AC42313E08}"/>
              </a:ext>
            </a:extLst>
          </p:cNvPr>
          <p:cNvSpPr txBox="1"/>
          <p:nvPr/>
        </p:nvSpPr>
        <p:spPr>
          <a:xfrm>
            <a:off x="9714017" y="2719071"/>
            <a:ext cx="1248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Reconstruction</a:t>
            </a:r>
          </a:p>
        </p:txBody>
      </p:sp>
      <p:cxnSp>
        <p:nvCxnSpPr>
          <p:cNvPr id="1035" name="Straight Arrow Connector 1034">
            <a:extLst>
              <a:ext uri="{FF2B5EF4-FFF2-40B4-BE49-F238E27FC236}">
                <a16:creationId xmlns:a16="http://schemas.microsoft.com/office/drawing/2014/main" id="{39911BBB-CFA8-8048-54FC-5063BFDECCE6}"/>
              </a:ext>
            </a:extLst>
          </p:cNvPr>
          <p:cNvCxnSpPr>
            <a:cxnSpLocks/>
          </p:cNvCxnSpPr>
          <p:nvPr/>
        </p:nvCxnSpPr>
        <p:spPr>
          <a:xfrm flipV="1">
            <a:off x="5066083" y="3144400"/>
            <a:ext cx="325314" cy="20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37" name="Rounded Rectangle 1036">
                <a:extLst>
                  <a:ext uri="{FF2B5EF4-FFF2-40B4-BE49-F238E27FC236}">
                    <a16:creationId xmlns:a16="http://schemas.microsoft.com/office/drawing/2014/main" id="{F1C79FEB-C6E4-A4C6-EE5B-B5C962E79245}"/>
                  </a:ext>
                </a:extLst>
              </p:cNvPr>
              <p:cNvSpPr/>
              <p:nvPr/>
            </p:nvSpPr>
            <p:spPr>
              <a:xfrm>
                <a:off x="11277038" y="1667376"/>
                <a:ext cx="2297151" cy="2137583"/>
              </a:xfrm>
              <a:prstGeom prst="roundRect">
                <a:avLst/>
              </a:prstGeom>
              <a:solidFill>
                <a:srgbClr val="FF6B6B"/>
              </a:solidFill>
              <a:ln w="381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1200" b="1" u="sng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Discriminator</a:t>
                </a:r>
              </a:p>
              <a:p>
                <a:pPr algn="ctr"/>
                <a:endParaRPr lang="en-US" sz="1200" dirty="0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Conv2d Layers</a:t>
                </a: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32→64→128→256→512</a:t>
                </a:r>
              </a:p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</a:rPr>
                  <a:t>BatchNorm</a:t>
                </a:r>
                <a:r>
                  <a:rPr lang="en-US" sz="12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 + </a:t>
                </a:r>
                <a:r>
                  <a:rPr lang="en-US" sz="1200" dirty="0" err="1">
                    <a:solidFill>
                      <a:schemeClr val="tx1"/>
                    </a:solidFill>
                    <a:latin typeface="Aptos" panose="020B0004020202020204" pitchFamily="34" charset="0"/>
                  </a:rPr>
                  <a:t>LeakyReLU</a:t>
                </a:r>
                <a:endParaRPr lang="en-US" sz="1200" dirty="0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Penult. Output: </a:t>
                </a:r>
                <a14:m>
                  <m:oMath xmlns:m="http://schemas.openxmlformats.org/officeDocument/2006/math"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8×8×512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 d</a:t>
                </a:r>
              </a:p>
              <a:p>
                <a:pPr algn="ctr"/>
                <a:endParaRPr lang="en-US" sz="1200" dirty="0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Final Layer</a:t>
                </a: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Linear + Sigmoid</a:t>
                </a:r>
              </a:p>
              <a:p>
                <a:pPr algn="ctr"/>
                <a:r>
                  <a:rPr lang="en-US" sz="1200" b="1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Output: 1 d</a:t>
                </a:r>
              </a:p>
              <a:p>
                <a:pPr algn="ctr"/>
                <a:endParaRPr lang="en-US" sz="1200" dirty="0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</p:txBody>
          </p:sp>
        </mc:Choice>
        <mc:Fallback>
          <p:sp>
            <p:nvSpPr>
              <p:cNvPr id="1037" name="Rounded Rectangle 1036">
                <a:extLst>
                  <a:ext uri="{FF2B5EF4-FFF2-40B4-BE49-F238E27FC236}">
                    <a16:creationId xmlns:a16="http://schemas.microsoft.com/office/drawing/2014/main" id="{F1C79FEB-C6E4-A4C6-EE5B-B5C962E792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7038" y="1667376"/>
                <a:ext cx="2297151" cy="2137583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  <a:ln w="381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41" name="Straight Arrow Connector 1040">
            <a:extLst>
              <a:ext uri="{FF2B5EF4-FFF2-40B4-BE49-F238E27FC236}">
                <a16:creationId xmlns:a16="http://schemas.microsoft.com/office/drawing/2014/main" id="{FBAC5BD5-BA36-EFD7-A5DB-33ADD6C41065}"/>
              </a:ext>
            </a:extLst>
          </p:cNvPr>
          <p:cNvCxnSpPr>
            <a:cxnSpLocks/>
          </p:cNvCxnSpPr>
          <p:nvPr/>
        </p:nvCxnSpPr>
        <p:spPr>
          <a:xfrm>
            <a:off x="9328682" y="1987840"/>
            <a:ext cx="420960" cy="0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3" name="Straight Arrow Connector 1042">
            <a:extLst>
              <a:ext uri="{FF2B5EF4-FFF2-40B4-BE49-F238E27FC236}">
                <a16:creationId xmlns:a16="http://schemas.microsoft.com/office/drawing/2014/main" id="{5909CD71-8DEC-5066-D904-F8EB1C4EAED0}"/>
              </a:ext>
            </a:extLst>
          </p:cNvPr>
          <p:cNvCxnSpPr>
            <a:cxnSpLocks/>
          </p:cNvCxnSpPr>
          <p:nvPr/>
        </p:nvCxnSpPr>
        <p:spPr>
          <a:xfrm>
            <a:off x="9328682" y="3537627"/>
            <a:ext cx="4209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6" name="Straight Arrow Connector 1045">
            <a:extLst>
              <a:ext uri="{FF2B5EF4-FFF2-40B4-BE49-F238E27FC236}">
                <a16:creationId xmlns:a16="http://schemas.microsoft.com/office/drawing/2014/main" id="{82FC8EC9-E5E9-AE77-2064-07B3B47891E3}"/>
              </a:ext>
            </a:extLst>
          </p:cNvPr>
          <p:cNvCxnSpPr>
            <a:cxnSpLocks/>
          </p:cNvCxnSpPr>
          <p:nvPr/>
        </p:nvCxnSpPr>
        <p:spPr>
          <a:xfrm>
            <a:off x="10838482" y="1987813"/>
            <a:ext cx="420960" cy="0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7" name="Straight Arrow Connector 1046">
            <a:extLst>
              <a:ext uri="{FF2B5EF4-FFF2-40B4-BE49-F238E27FC236}">
                <a16:creationId xmlns:a16="http://schemas.microsoft.com/office/drawing/2014/main" id="{B19BE11B-005D-6F0D-6998-AA8562370A96}"/>
              </a:ext>
            </a:extLst>
          </p:cNvPr>
          <p:cNvCxnSpPr>
            <a:cxnSpLocks/>
          </p:cNvCxnSpPr>
          <p:nvPr/>
        </p:nvCxnSpPr>
        <p:spPr>
          <a:xfrm>
            <a:off x="10850357" y="3537627"/>
            <a:ext cx="4209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83" name="Group 1082">
            <a:extLst>
              <a:ext uri="{FF2B5EF4-FFF2-40B4-BE49-F238E27FC236}">
                <a16:creationId xmlns:a16="http://schemas.microsoft.com/office/drawing/2014/main" id="{937BB568-5AE8-B68E-A247-CF8CB0F74F48}"/>
              </a:ext>
            </a:extLst>
          </p:cNvPr>
          <p:cNvGrpSpPr/>
          <p:nvPr/>
        </p:nvGrpSpPr>
        <p:grpSpPr>
          <a:xfrm>
            <a:off x="640862" y="44383"/>
            <a:ext cx="11818424" cy="1733934"/>
            <a:chOff x="640862" y="72445"/>
            <a:chExt cx="11818424" cy="2081620"/>
          </a:xfrm>
        </p:grpSpPr>
        <p:cxnSp>
          <p:nvCxnSpPr>
            <p:cNvPr id="1056" name="Straight Connector 1055">
              <a:extLst>
                <a:ext uri="{FF2B5EF4-FFF2-40B4-BE49-F238E27FC236}">
                  <a16:creationId xmlns:a16="http://schemas.microsoft.com/office/drawing/2014/main" id="{AE5BFCC6-3BDF-87CE-B837-082963F3DBE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6634" y="72445"/>
              <a:ext cx="420" cy="2081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8" name="Straight Connector 1057">
              <a:extLst>
                <a:ext uri="{FF2B5EF4-FFF2-40B4-BE49-F238E27FC236}">
                  <a16:creationId xmlns:a16="http://schemas.microsoft.com/office/drawing/2014/main" id="{B6A9F6C3-5D22-AAB5-BD1F-B8E3F2FB16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0862" y="75028"/>
              <a:ext cx="11818424" cy="129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2" name="Straight Arrow Connector 1081">
              <a:extLst>
                <a:ext uri="{FF2B5EF4-FFF2-40B4-BE49-F238E27FC236}">
                  <a16:creationId xmlns:a16="http://schemas.microsoft.com/office/drawing/2014/main" id="{029014E9-0C39-BBED-DF4F-E1A0FB4121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454817" y="72445"/>
              <a:ext cx="40" cy="191840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6" name="Rounded Rectangle 1085">
            <a:extLst>
              <a:ext uri="{FF2B5EF4-FFF2-40B4-BE49-F238E27FC236}">
                <a16:creationId xmlns:a16="http://schemas.microsoft.com/office/drawing/2014/main" id="{F5CCA431-E514-F4D9-6C8E-0DB6D3260A94}"/>
              </a:ext>
            </a:extLst>
          </p:cNvPr>
          <p:cNvSpPr/>
          <p:nvPr/>
        </p:nvSpPr>
        <p:spPr>
          <a:xfrm>
            <a:off x="7243678" y="4762962"/>
            <a:ext cx="3749350" cy="136292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2563" indent="-182563" algn="ctr"/>
            <a:r>
              <a:rPr lang="en-US" sz="1200" b="1" u="sng" dirty="0">
                <a:solidFill>
                  <a:schemeClr val="tx1"/>
                </a:solidFill>
              </a:rPr>
              <a:t>VAE Loss</a:t>
            </a:r>
          </a:p>
          <a:p>
            <a:pPr marL="182563" indent="-182563" algn="ctr"/>
            <a:endParaRPr lang="en-US" sz="800" u="sng" dirty="0">
              <a:solidFill>
                <a:schemeClr val="tx1"/>
              </a:solidFill>
            </a:endParaRPr>
          </a:p>
          <a:p>
            <a:pPr marL="182563" indent="-182563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3-term KL divergence loss (see Sisodia et al. (2024) for details)</a:t>
            </a:r>
          </a:p>
          <a:p>
            <a:pPr marL="182563" indent="-182563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L1 reconstruction loss </a:t>
            </a:r>
          </a:p>
          <a:p>
            <a:pPr marL="182563" indent="-182563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Binary cross-entropy loss for failing to trick the discriminator</a:t>
            </a:r>
          </a:p>
        </p:txBody>
      </p:sp>
      <p:sp>
        <p:nvSpPr>
          <p:cNvPr id="1087" name="Rounded Rectangle 1086">
            <a:extLst>
              <a:ext uri="{FF2B5EF4-FFF2-40B4-BE49-F238E27FC236}">
                <a16:creationId xmlns:a16="http://schemas.microsoft.com/office/drawing/2014/main" id="{791D6881-90FE-1CF8-B11C-C4E38AFE52E2}"/>
              </a:ext>
            </a:extLst>
          </p:cNvPr>
          <p:cNvSpPr/>
          <p:nvPr/>
        </p:nvSpPr>
        <p:spPr>
          <a:xfrm>
            <a:off x="11105147" y="5275988"/>
            <a:ext cx="2561902" cy="84990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b="1" u="sng" dirty="0">
                <a:solidFill>
                  <a:schemeClr val="tx1"/>
                </a:solidFill>
              </a:rPr>
              <a:t>Discriminator Loss</a:t>
            </a:r>
          </a:p>
          <a:p>
            <a:pPr algn="ctr"/>
            <a:endParaRPr lang="en-US" sz="800" u="sng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Binary cross-entropy loss for failing to detect real vs fake images</a:t>
            </a:r>
          </a:p>
          <a:p>
            <a:pPr algn="ctr"/>
            <a:endParaRPr lang="en-US" sz="1200" u="sng" dirty="0">
              <a:solidFill>
                <a:schemeClr val="tx1"/>
              </a:solidFill>
            </a:endParaRPr>
          </a:p>
        </p:txBody>
      </p:sp>
      <p:pic>
        <p:nvPicPr>
          <p:cNvPr id="1033" name="Picture 1032" descr="A blurry image of a car&#10;&#10;Description automatically generated">
            <a:extLst>
              <a:ext uri="{FF2B5EF4-FFF2-40B4-BE49-F238E27FC236}">
                <a16:creationId xmlns:a16="http://schemas.microsoft.com/office/drawing/2014/main" id="{B385D385-6ED2-12EC-E2C3-2C086B168BC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92254" y="1462324"/>
            <a:ext cx="1042416" cy="104241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FDFD5911-105E-6EA3-6E15-66546F42FCFC}"/>
              </a:ext>
            </a:extLst>
          </p:cNvPr>
          <p:cNvSpPr/>
          <p:nvPr/>
        </p:nvSpPr>
        <p:spPr>
          <a:xfrm>
            <a:off x="2540555" y="5275988"/>
            <a:ext cx="3061844" cy="84990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2563" indent="-182563" algn="ctr"/>
            <a:r>
              <a:rPr lang="en-US" sz="1200" b="1" u="sng" dirty="0">
                <a:solidFill>
                  <a:schemeClr val="tx1"/>
                </a:solidFill>
              </a:rPr>
              <a:t>Classifier Loss</a:t>
            </a:r>
          </a:p>
          <a:p>
            <a:pPr marL="182563" indent="-182563" algn="ctr"/>
            <a:endParaRPr lang="en-US" sz="800" u="sng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Cross-entropy loss for failing to predict the correct label, summed over classifiers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81A815-FAA3-5ED2-24CC-C77B5C7F7B5F}"/>
              </a:ext>
            </a:extLst>
          </p:cNvPr>
          <p:cNvSpPr txBox="1"/>
          <p:nvPr/>
        </p:nvSpPr>
        <p:spPr>
          <a:xfrm>
            <a:off x="3839065" y="4323400"/>
            <a:ext cx="464824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/>
              <a:t>…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94A51F4-3097-EEDF-7680-CCE8517D4688}"/>
              </a:ext>
            </a:extLst>
          </p:cNvPr>
          <p:cNvSpPr txBox="1"/>
          <p:nvPr/>
        </p:nvSpPr>
        <p:spPr>
          <a:xfrm>
            <a:off x="29864" y="3297127"/>
            <a:ext cx="12489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Year</a:t>
            </a:r>
          </a:p>
          <a:p>
            <a:pPr algn="ctr"/>
            <a:r>
              <a:rPr lang="en-US" sz="1200" dirty="0"/>
              <a:t>Brand</a:t>
            </a:r>
          </a:p>
          <a:p>
            <a:pPr algn="ctr"/>
            <a:r>
              <a:rPr lang="en-US" sz="1200" dirty="0"/>
              <a:t>Body</a:t>
            </a:r>
          </a:p>
          <a:p>
            <a:pPr algn="ctr"/>
            <a:r>
              <a:rPr lang="en-US" sz="1200" dirty="0"/>
              <a:t>Door </a:t>
            </a:r>
          </a:p>
        </p:txBody>
      </p: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8DD4CBB5-8A8C-29F0-F16A-AB114CCF57AC}"/>
              </a:ext>
            </a:extLst>
          </p:cNvPr>
          <p:cNvCxnSpPr>
            <a:cxnSpLocks/>
            <a:stCxn id="36" idx="2"/>
            <a:endCxn id="53" idx="1"/>
          </p:cNvCxnSpPr>
          <p:nvPr/>
        </p:nvCxnSpPr>
        <p:spPr>
          <a:xfrm rot="16200000" flipH="1">
            <a:off x="970999" y="3811457"/>
            <a:ext cx="488268" cy="112160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91368DD0-CE9C-3D72-7DC2-ACA5BAB85ACE}"/>
              </a:ext>
            </a:extLst>
          </p:cNvPr>
          <p:cNvSpPr/>
          <p:nvPr/>
        </p:nvSpPr>
        <p:spPr>
          <a:xfrm>
            <a:off x="1775934" y="4100207"/>
            <a:ext cx="2063130" cy="1032370"/>
          </a:xfrm>
          <a:prstGeom prst="roundRect">
            <a:avLst/>
          </a:prstGeom>
          <a:solidFill>
            <a:srgbClr val="FFEC91"/>
          </a:solidFill>
          <a:ln w="38100">
            <a:solidFill>
              <a:srgbClr val="B6B1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2563" indent="-182563" algn="ctr"/>
            <a:r>
              <a:rPr lang="en-US" sz="1200" b="1" u="sng" dirty="0">
                <a:solidFill>
                  <a:schemeClr val="tx1"/>
                </a:solidFill>
              </a:rPr>
              <a:t>Classifier #1</a:t>
            </a:r>
          </a:p>
          <a:p>
            <a:pPr marL="182563" indent="-182563" algn="ctr"/>
            <a:endParaRPr lang="en-US" sz="800" u="sng" dirty="0"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4 dim of latent→4 FC nodes</a:t>
            </a:r>
          </a:p>
          <a:p>
            <a:pPr algn="ctr"/>
            <a:r>
              <a:rPr lang="en-US" sz="1200" dirty="0" err="1">
                <a:solidFill>
                  <a:schemeClr val="tx1"/>
                </a:solidFill>
              </a:rPr>
              <a:t>ReLU</a:t>
            </a:r>
            <a:endParaRPr lang="en-US" sz="1200" dirty="0">
              <a:solidFill>
                <a:schemeClr val="tx1"/>
              </a:solidFill>
            </a:endParaRP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Output: label 1 logits</a:t>
            </a:r>
          </a:p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97A58D4A-3656-570D-E4D1-4F27A6F29107}"/>
              </a:ext>
            </a:extLst>
          </p:cNvPr>
          <p:cNvSpPr/>
          <p:nvPr/>
        </p:nvSpPr>
        <p:spPr>
          <a:xfrm>
            <a:off x="4303888" y="4100207"/>
            <a:ext cx="2063130" cy="1032370"/>
          </a:xfrm>
          <a:prstGeom prst="roundRect">
            <a:avLst/>
          </a:prstGeom>
          <a:solidFill>
            <a:srgbClr val="FFEC91"/>
          </a:solidFill>
          <a:ln w="38100">
            <a:solidFill>
              <a:srgbClr val="B6B1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2563" indent="-182563" algn="ctr"/>
            <a:r>
              <a:rPr lang="en-US" sz="1200" b="1" u="sng" dirty="0">
                <a:solidFill>
                  <a:schemeClr val="tx1"/>
                </a:solidFill>
              </a:rPr>
              <a:t>Classifier #C</a:t>
            </a:r>
          </a:p>
          <a:p>
            <a:pPr marL="182563" indent="-182563" algn="ctr"/>
            <a:endParaRPr lang="en-US" sz="800" u="sng" dirty="0"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4 dim of latent→4 FC nodes</a:t>
            </a:r>
          </a:p>
          <a:p>
            <a:pPr algn="ctr"/>
            <a:r>
              <a:rPr lang="en-US" sz="1200" dirty="0" err="1">
                <a:solidFill>
                  <a:schemeClr val="tx1"/>
                </a:solidFill>
              </a:rPr>
              <a:t>ReLU</a:t>
            </a:r>
            <a:endParaRPr lang="en-US" sz="1200" dirty="0">
              <a:solidFill>
                <a:schemeClr val="tx1"/>
              </a:solidFill>
            </a:endParaRP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Output: label C logits</a:t>
            </a:r>
          </a:p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7340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1056</TotalTime>
  <Words>224</Words>
  <Application>Microsoft Macintosh PowerPoint</Application>
  <PresentationFormat>Custom</PresentationFormat>
  <Paragraphs>71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Eum, Brenden</dc:creator>
  <cp:lastModifiedBy>Eum, Brenden</cp:lastModifiedBy>
  <cp:revision>35</cp:revision>
  <dcterms:created xsi:type="dcterms:W3CDTF">2025-04-08T23:04:46Z</dcterms:created>
  <dcterms:modified xsi:type="dcterms:W3CDTF">2025-04-21T19:33:16Z</dcterms:modified>
</cp:coreProperties>
</file>