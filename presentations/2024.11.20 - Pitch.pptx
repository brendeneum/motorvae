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8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4531"/>
  </p:normalViewPr>
  <p:slideViewPr>
    <p:cSldViewPr snapToGrid="0">
      <p:cViewPr varScale="1">
        <p:scale>
          <a:sx n="111" d="100"/>
          <a:sy n="111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763FE-5FB9-BA4F-9EC8-81C8F255EB26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34AB9-B934-5D47-AD72-57FFB918C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1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BF05-7065-A0A7-B54A-DDB380112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45" y="1467939"/>
            <a:ext cx="12006308" cy="2244689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B8E3E-366C-0C8B-9B5B-1DB877216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615" y="4042878"/>
            <a:ext cx="64590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6D873-DFEC-9B29-32EB-B3293B3FE9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645" y="6534364"/>
            <a:ext cx="1441807" cy="3030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97D464-A7C3-8EAE-14F7-CCBA41ABA4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888" t="23890" r="8223" b="22777"/>
          <a:stretch/>
        </p:blipFill>
        <p:spPr>
          <a:xfrm>
            <a:off x="191394" y="116963"/>
            <a:ext cx="4061639" cy="1020726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B78610D-B79C-981E-B8C9-77547AC543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4975" y="199155"/>
            <a:ext cx="1595357" cy="94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2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7E44-C4D2-8C77-6662-4A58D8B3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C59A6-0019-9C86-3A90-F3A8FDC9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B471CC1-614E-77AB-60DD-FF436A9851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93FFB1B-3394-7E84-8548-A54CFFA0AA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8583D2-79B2-53A6-70B4-B30859B600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93230316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A9F6-D00E-D472-5A75-F4593D90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6" y="768350"/>
            <a:ext cx="11959119" cy="2852737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E9F6D-A817-89F5-E231-C52DBEFE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11099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5A947F-F8F5-6BBF-4958-3C903A6386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74534B6-42F5-C9A3-C765-C590331A81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0FC2E-4B73-FF2D-CFB6-0F99DC5221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36585622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FFD1-0DD8-69E0-BB3A-761C62F6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9860-B482-9C5B-9819-1F893FF0C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688" y="1325562"/>
            <a:ext cx="5945312" cy="515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ECCCE-ED97-3D06-7D9A-D63B22FF4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33712"/>
            <a:ext cx="5945312" cy="5143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0F92C0-F18F-0426-7EDD-740D6C6347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84002B3-8776-16AE-BBAC-B76BA14F45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B6C2DB-8C43-A1BC-2D1F-6ACEA21A1A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190039600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2083-0B16-896B-FF62-88F413A8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6" y="5555"/>
            <a:ext cx="11948845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F0993-4260-F0A3-3390-348E97742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16" y="1331118"/>
            <a:ext cx="5982984" cy="1173957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3982F-6EC9-B243-044E-56DE59396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16" y="2505074"/>
            <a:ext cx="5982984" cy="3971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B8FB2A-004D-643B-04DD-6B73E5EB6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14606" y="1331118"/>
            <a:ext cx="5947255" cy="1173957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81CE4-9C47-F297-D5CE-36F4ACA37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513224"/>
            <a:ext cx="5965861" cy="39719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7D7271-4313-975A-7A27-AD753373E1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550B55D-BC7E-E95E-F451-A751468F19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556CDD-C2DC-6B99-1CE0-33B83BB094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393776545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785A-CD5E-26F4-ACA2-0F1F37CE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F63456-5A9A-9318-1CA2-398889D2F1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EE90BF7-E079-0B3E-1DB0-B7C80D18BB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CE4B6A-1E3A-D03C-7A67-C733342FD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44246821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571A03-EFA4-F56A-E7BE-178015358A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12A8160-E1E0-9BC8-C8ED-20356E03B6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A1DE4-DAFA-84C9-A9E4-97C6D1D4C7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75580229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AAD2-BB18-2147-ABB2-C2E3874A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C012-B699-D959-BB38-84851F09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D3ED7-6BCA-C8AB-8BB3-690A8B1B9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29634A-F351-A305-2E7D-F3086168BD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B12CF9C-8828-8016-07E9-6D2A9EE99F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EB71DD-A13A-920E-AAD1-908BC1E36F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235076749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1608-1B89-1D30-AD4D-14E33E37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533E5-759F-653B-572D-F19B649A5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DC844-9C6F-7FA0-BAEA-5DCDFA18A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209EC0-9A8D-6349-06E1-49A7DB45F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B7B16CB-2B08-0BDC-15C7-60D34E9406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A7F4C5-47D7-D0F8-4D9C-6905DD725A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236173411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B973-A78A-FB36-F7C2-B2D4AF08B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C27FD-A248-1F79-E749-66560FD53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3DA26E2-232F-48C0-1646-09D870C09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B869E57-5946-18FC-9FBA-338EE54344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99D080-06FD-F2DC-B3FE-26BBDB4BB2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402775816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D2BA5-9E57-14E2-0876-5EE8DC82A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C4DB8-3A75-2717-7ADF-D7EF407FC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B80334-B7C2-ADF1-D0AC-726B5424C6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0829124" y="6492875"/>
            <a:ext cx="1362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fld id="{F46E1238-5862-244F-8A8E-98EA09295D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A6D87BB-2C9E-EBE8-873E-E665FA430C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6406" y="6485148"/>
            <a:ext cx="1639186" cy="39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8DF589-AFFC-03AA-1B67-5110BA1B11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1414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Brenden Eum</a:t>
            </a:r>
          </a:p>
        </p:txBody>
      </p:sp>
    </p:spTree>
    <p:extLst>
      <p:ext uri="{BB962C8B-B14F-4D97-AF65-F5344CB8AC3E}">
        <p14:creationId xmlns:p14="http://schemas.microsoft.com/office/powerpoint/2010/main" val="16345953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8A1EDB-56B6-1BFB-E93E-034B86762F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6492874"/>
            <a:ext cx="12192001" cy="3865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8FA27-8733-C15E-7046-EDEF1799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88" y="0"/>
            <a:ext cx="11887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443E4-C209-968E-3367-EE461C177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688" y="1325562"/>
            <a:ext cx="11887200" cy="515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3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Franklin Gothic Book" panose="020B0503020102020204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Vulf Sans" pitchFamily="2" charset="77"/>
          <a:cs typeface="Futura Medium" panose="020B06020202040203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4" pos="7680" userDrawn="1">
          <p15:clr>
            <a:srgbClr val="F26B43"/>
          </p15:clr>
        </p15:guide>
        <p15:guide id="5" orient="horz" pos="408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orient="horz" pos="4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6F16-FDC8-9F49-E68B-E14EC364C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Interpretable Visual Features for Demand Neuroforecasting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FE754-CB11-279B-47F4-2909D474F9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Brenden Eum</a:t>
            </a:r>
          </a:p>
          <a:p>
            <a:r>
              <a:rPr lang="en-US" dirty="0"/>
              <a:t>Brian Knutson</a:t>
            </a:r>
          </a:p>
          <a:p>
            <a:r>
              <a:rPr lang="en-US" dirty="0"/>
              <a:t>Shabnam Hakimi</a:t>
            </a:r>
          </a:p>
          <a:p>
            <a:r>
              <a:rPr lang="en-US" dirty="0"/>
              <a:t>Remi </a:t>
            </a:r>
            <a:r>
              <a:rPr lang="en-US" dirty="0" err="1"/>
              <a:t>Daviet</a:t>
            </a:r>
            <a:endParaRPr lang="en-US" dirty="0"/>
          </a:p>
          <a:p>
            <a:r>
              <a:rPr lang="en-US" dirty="0"/>
              <a:t>Ryan Webb</a:t>
            </a:r>
          </a:p>
        </p:txBody>
      </p:sp>
    </p:spTree>
    <p:extLst>
      <p:ext uri="{BB962C8B-B14F-4D97-AF65-F5344CB8AC3E}">
        <p14:creationId xmlns:p14="http://schemas.microsoft.com/office/powerpoint/2010/main" val="15613343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8B35-7573-EA5A-007E-B8EA6F75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Neuroforecasting</a:t>
            </a:r>
          </a:p>
        </p:txBody>
      </p:sp>
      <p:pic>
        <p:nvPicPr>
          <p:cNvPr id="6" name="Content Placeholder 5" descr="A diagram of a group of people&#10;&#10;Description automatically generated">
            <a:extLst>
              <a:ext uri="{FF2B5EF4-FFF2-40B4-BE49-F238E27FC236}">
                <a16:creationId xmlns:a16="http://schemas.microsoft.com/office/drawing/2014/main" id="{18FBC5F8-1A77-160B-38C1-C85A179B9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17" y="1325563"/>
            <a:ext cx="11849100" cy="4559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ABB64-3307-168A-394A-D01113B46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B2F2C-BBA5-1870-C390-6F91A7B4B0DD}"/>
              </a:ext>
            </a:extLst>
          </p:cNvPr>
          <p:cNvSpPr txBox="1"/>
          <p:nvPr/>
        </p:nvSpPr>
        <p:spPr>
          <a:xfrm>
            <a:off x="8496437" y="6123543"/>
            <a:ext cx="369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>
                <a:latin typeface="Franklin Gothic Book" panose="020B0503020102020204" pitchFamily="34" charset="0"/>
              </a:rPr>
              <a:t>Genevsky</a:t>
            </a:r>
            <a:r>
              <a:rPr lang="en-US" dirty="0">
                <a:latin typeface="Franklin Gothic Book" panose="020B0503020102020204" pitchFamily="34" charset="0"/>
              </a:rPr>
              <a:t> et al. (2025, PNAS Nexus)</a:t>
            </a:r>
          </a:p>
        </p:txBody>
      </p:sp>
    </p:spTree>
    <p:extLst>
      <p:ext uri="{BB962C8B-B14F-4D97-AF65-F5344CB8AC3E}">
        <p14:creationId xmlns:p14="http://schemas.microsoft.com/office/powerpoint/2010/main" val="264371743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06AB66-509E-6417-3B0A-DB72F96C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 descr="Revealed: The Top Artists, Songs, Albums, Podcasts, and Audiobooks of 2024  — Spotify">
            <a:extLst>
              <a:ext uri="{FF2B5EF4-FFF2-40B4-BE49-F238E27FC236}">
                <a16:creationId xmlns:a16="http://schemas.microsoft.com/office/drawing/2014/main" id="{1AB5918C-F2AC-D18E-3112-37FC3C3FA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7" y="110185"/>
            <a:ext cx="5499581" cy="309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here I'd Put $10,000 in Consistently Well-performing TSX Stocks | The  Motley Fool Canada">
            <a:extLst>
              <a:ext uri="{FF2B5EF4-FFF2-40B4-BE49-F238E27FC236}">
                <a16:creationId xmlns:a16="http://schemas.microsoft.com/office/drawing/2014/main" id="{64C41A44-4D50-4F72-6D42-C004BAE8E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62" y="3424031"/>
            <a:ext cx="2853243" cy="285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Big Hits from the Box Office - CFCArts">
            <a:extLst>
              <a:ext uri="{FF2B5EF4-FFF2-40B4-BE49-F238E27FC236}">
                <a16:creationId xmlns:a16="http://schemas.microsoft.com/office/drawing/2014/main" id="{BCF76386-319B-FE6D-4565-ED37DB05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680" y="139051"/>
            <a:ext cx="3428729" cy="342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TV Advertising 101: From Costs to Benefits | Camphouse">
            <a:extLst>
              <a:ext uri="{FF2B5EF4-FFF2-40B4-BE49-F238E27FC236}">
                <a16:creationId xmlns:a16="http://schemas.microsoft.com/office/drawing/2014/main" id="{4373EE60-E231-10C6-513A-71C5F7EB9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255" y="2269600"/>
            <a:ext cx="4826676" cy="276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What is crowdfunding? How startups can benefit from it">
            <a:extLst>
              <a:ext uri="{FF2B5EF4-FFF2-40B4-BE49-F238E27FC236}">
                <a16:creationId xmlns:a16="http://schemas.microsoft.com/office/drawing/2014/main" id="{2ECAD5A7-3BD3-6F06-8125-95C7B67B1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083" y="447875"/>
            <a:ext cx="3910274" cy="299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0C8B5DD-0035-C043-90B4-608BEE299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749" y="3756030"/>
            <a:ext cx="5208608" cy="218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nstagram logo png, Instagram icon transparent 18930415 PNG">
            <a:extLst>
              <a:ext uri="{FF2B5EF4-FFF2-40B4-BE49-F238E27FC236}">
                <a16:creationId xmlns:a16="http://schemas.microsoft.com/office/drawing/2014/main" id="{010E11C0-8762-9651-CE63-72A969009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562" y="3101970"/>
            <a:ext cx="3428729" cy="342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6982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5153-2420-ACBF-2C1D-0313A710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Affect-Integration-Motivation (AIM) Network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93C0120-A3EE-2B12-DEC3-57FE29D7F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904" y="1325563"/>
            <a:ext cx="9750767" cy="43476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635BE-9006-F450-75AD-4E20CDE45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A065B-5510-6427-FA99-8200ED1DBD41}"/>
              </a:ext>
            </a:extLst>
          </p:cNvPr>
          <p:cNvSpPr txBox="1"/>
          <p:nvPr/>
        </p:nvSpPr>
        <p:spPr>
          <a:xfrm>
            <a:off x="7407962" y="6139860"/>
            <a:ext cx="478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Knutson &amp; </a:t>
            </a:r>
            <a:r>
              <a:rPr lang="en-US" dirty="0" err="1">
                <a:latin typeface="Franklin Gothic Book" panose="020B0503020102020204" pitchFamily="34" charset="0"/>
              </a:rPr>
              <a:t>Genevsky</a:t>
            </a:r>
            <a:r>
              <a:rPr lang="en-US" dirty="0">
                <a:latin typeface="Franklin Gothic Book" panose="020B0503020102020204" pitchFamily="34" charset="0"/>
              </a:rPr>
              <a:t> (2018, Cur Dir Psych Sci)</a:t>
            </a:r>
          </a:p>
        </p:txBody>
      </p:sp>
    </p:spTree>
    <p:extLst>
      <p:ext uri="{BB962C8B-B14F-4D97-AF65-F5344CB8AC3E}">
        <p14:creationId xmlns:p14="http://schemas.microsoft.com/office/powerpoint/2010/main" val="297522515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82FA-833A-8697-20F8-5F177D8F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31BC-72A3-8A06-94A1-641AC644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Affect-Integration-Motivation (AIM) Network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2C67F72-9093-C60B-B2D1-34026DD1B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904" y="1325563"/>
            <a:ext cx="9750767" cy="43476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7572-FAA5-54D8-86A3-DC8922438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3CCA6-9BC0-E033-7FBC-0743EE8FD649}"/>
              </a:ext>
            </a:extLst>
          </p:cNvPr>
          <p:cNvSpPr txBox="1"/>
          <p:nvPr/>
        </p:nvSpPr>
        <p:spPr>
          <a:xfrm>
            <a:off x="7407962" y="6139860"/>
            <a:ext cx="478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Knutson &amp; </a:t>
            </a:r>
            <a:r>
              <a:rPr lang="en-US" dirty="0" err="1">
                <a:latin typeface="Franklin Gothic Book" panose="020B0503020102020204" pitchFamily="34" charset="0"/>
              </a:rPr>
              <a:t>Genevsky</a:t>
            </a:r>
            <a:r>
              <a:rPr lang="en-US" dirty="0">
                <a:latin typeface="Franklin Gothic Book" panose="020B0503020102020204" pitchFamily="34" charset="0"/>
              </a:rPr>
              <a:t> (2018, Cur Dir Psych Sci)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846552-35DD-48A8-B6C3-405327CA7086}"/>
              </a:ext>
            </a:extLst>
          </p:cNvPr>
          <p:cNvSpPr/>
          <p:nvPr/>
        </p:nvSpPr>
        <p:spPr>
          <a:xfrm>
            <a:off x="787294" y="2665990"/>
            <a:ext cx="10613985" cy="1666754"/>
          </a:xfrm>
          <a:prstGeom prst="roundRect">
            <a:avLst/>
          </a:prstGeom>
          <a:solidFill>
            <a:srgbClr val="FFC0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What influences affective response in the </a:t>
            </a:r>
            <a:r>
              <a:rPr lang="en-US" sz="3600" dirty="0" err="1">
                <a:solidFill>
                  <a:schemeClr val="tx1"/>
                </a:solidFill>
              </a:rPr>
              <a:t>NAcc</a:t>
            </a:r>
            <a:r>
              <a:rPr lang="en-US" sz="36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41092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B0AF-6FB4-201A-EA46-FDEB18F4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might provide an answer.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7A783-6561-BE3B-0EEF-BB629C6E0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152" name="Picture 8" descr="The structure of a deep autoencoder with encoder, decoder and the code... |  Download Scientific Diagram">
            <a:extLst>
              <a:ext uri="{FF2B5EF4-FFF2-40B4-BE49-F238E27FC236}">
                <a16:creationId xmlns:a16="http://schemas.microsoft.com/office/drawing/2014/main" id="{F9EB548E-DADB-0A65-C94D-1B9968DAD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876" y="1423685"/>
            <a:ext cx="9196248" cy="292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An Introduction to Linear Algebra - Owlcation">
            <a:extLst>
              <a:ext uri="{FF2B5EF4-FFF2-40B4-BE49-F238E27FC236}">
                <a16:creationId xmlns:a16="http://schemas.microsoft.com/office/drawing/2014/main" id="{7BBBE82E-0748-533F-723B-103EC589F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4676171" y="4344846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63927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28C7-3091-38EF-28EE-17FF1598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Traversals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25B05-FC57-311D-CA73-9D0FA6CBC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40E69E-E1F5-8398-F320-B8D550F51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1" y="3256004"/>
            <a:ext cx="10220632" cy="20584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FD877-D3EC-7E75-1B9A-8BDEC7604B7C}"/>
              </a:ext>
            </a:extLst>
          </p:cNvPr>
          <p:cNvSpPr txBox="1"/>
          <p:nvPr/>
        </p:nvSpPr>
        <p:spPr>
          <a:xfrm>
            <a:off x="8578830" y="6123543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Ludwig &amp; Mullainathan (2024, QJE)</a:t>
            </a:r>
          </a:p>
        </p:txBody>
      </p:sp>
      <p:pic>
        <p:nvPicPr>
          <p:cNvPr id="9" name="Picture 10" descr="An Introduction to Linear Algebra - Owlcation">
            <a:extLst>
              <a:ext uri="{FF2B5EF4-FFF2-40B4-BE49-F238E27FC236}">
                <a16:creationId xmlns:a16="http://schemas.microsoft.com/office/drawing/2014/main" id="{7EFF7BC7-8D4C-77E9-293E-6A38F5FF4B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4707254" y="1325563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AB6EEA1-CB39-380E-36F0-A53C40846478}"/>
              </a:ext>
            </a:extLst>
          </p:cNvPr>
          <p:cNvSpPr/>
          <p:nvPr/>
        </p:nvSpPr>
        <p:spPr>
          <a:xfrm>
            <a:off x="5752618" y="1226917"/>
            <a:ext cx="694481" cy="67133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BC2C5-C32C-52F7-A101-9BF368137EDD}"/>
              </a:ext>
            </a:extLst>
          </p:cNvPr>
          <p:cNvSpPr txBox="1"/>
          <p:nvPr/>
        </p:nvSpPr>
        <p:spPr>
          <a:xfrm>
            <a:off x="727346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DB211-E4FE-CEEC-F0EC-6497E3A5023F}"/>
              </a:ext>
            </a:extLst>
          </p:cNvPr>
          <p:cNvSpPr txBox="1"/>
          <p:nvPr/>
        </p:nvSpPr>
        <p:spPr>
          <a:xfrm>
            <a:off x="879449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8856F-4022-A91C-3723-7EFCECBE5B04}"/>
              </a:ext>
            </a:extLst>
          </p:cNvPr>
          <p:cNvSpPr txBox="1"/>
          <p:nvPr/>
        </p:nvSpPr>
        <p:spPr>
          <a:xfrm>
            <a:off x="10315520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5AB02F-2DAA-5AB2-FE89-CAA8F34642FF}"/>
              </a:ext>
            </a:extLst>
          </p:cNvPr>
          <p:cNvSpPr txBox="1"/>
          <p:nvPr/>
        </p:nvSpPr>
        <p:spPr>
          <a:xfrm>
            <a:off x="1566657" y="137791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33B6C-7879-E1C2-5F16-AB10CD0E11F5}"/>
              </a:ext>
            </a:extLst>
          </p:cNvPr>
          <p:cNvSpPr txBox="1"/>
          <p:nvPr/>
        </p:nvSpPr>
        <p:spPr>
          <a:xfrm>
            <a:off x="3087687" y="137791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492FBE-EE3C-2A8C-385C-3887E57F0825}"/>
              </a:ext>
            </a:extLst>
          </p:cNvPr>
          <p:cNvSpPr txBox="1"/>
          <p:nvPr/>
        </p:nvSpPr>
        <p:spPr>
          <a:xfrm>
            <a:off x="4608717" y="137791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799656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5150-C72A-2ADD-A3B9-888A1A98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Interpretable Visual Features for Cars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AD437-12B8-0D79-5C8E-42B704C6D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10" descr="An Introduction to Linear Algebra - Owlcation">
            <a:extLst>
              <a:ext uri="{FF2B5EF4-FFF2-40B4-BE49-F238E27FC236}">
                <a16:creationId xmlns:a16="http://schemas.microsoft.com/office/drawing/2014/main" id="{03262083-5A11-EFAE-3EB5-B06C66737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60" t="3253" r="6772" b="50151"/>
          <a:stretch/>
        </p:blipFill>
        <p:spPr bwMode="auto">
          <a:xfrm>
            <a:off x="3711830" y="1435261"/>
            <a:ext cx="1801793" cy="17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ECE409-E0C4-6061-515C-5C354A2F7BA6}"/>
              </a:ext>
            </a:extLst>
          </p:cNvPr>
          <p:cNvSpPr txBox="1"/>
          <p:nvPr/>
        </p:nvSpPr>
        <p:spPr>
          <a:xfrm>
            <a:off x="5625296" y="1488403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Hood Shape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27A60-11CA-B3EC-E75B-1D2D62262845}"/>
              </a:ext>
            </a:extLst>
          </p:cNvPr>
          <p:cNvSpPr txBox="1"/>
          <p:nvPr/>
        </p:nvSpPr>
        <p:spPr>
          <a:xfrm>
            <a:off x="5625296" y="2083973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Grill Shape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13942-6ECA-FBE8-88CC-1D9D135B1D58}"/>
              </a:ext>
            </a:extLst>
          </p:cNvPr>
          <p:cNvSpPr txBox="1"/>
          <p:nvPr/>
        </p:nvSpPr>
        <p:spPr>
          <a:xfrm>
            <a:off x="5622687" y="2679543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Headlight Shape</a:t>
            </a:r>
          </a:p>
        </p:txBody>
      </p:sp>
      <p:pic>
        <p:nvPicPr>
          <p:cNvPr id="11" name="Picture 10" descr="Two cars parked in front of each other&#10;&#10;Description automatically generated">
            <a:extLst>
              <a:ext uri="{FF2B5EF4-FFF2-40B4-BE49-F238E27FC236}">
                <a16:creationId xmlns:a16="http://schemas.microsoft.com/office/drawing/2014/main" id="{F41E4074-45EA-1843-2020-D35AB9BCC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0" y="3670288"/>
            <a:ext cx="12037280" cy="18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8457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12A6-EA48-5D3C-9F28-396EFCF1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motorVAEGAN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41E76-9FF5-281E-12B7-702698CDF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33D4B16F-F74A-B46D-2898-76677835E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82" y="1205378"/>
            <a:ext cx="10794412" cy="485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9784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EE54-BEFB-A1FA-1CEA-6C745CC3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we’re at now</a:t>
            </a:r>
          </a:p>
        </p:txBody>
      </p:sp>
      <p:pic>
        <p:nvPicPr>
          <p:cNvPr id="6" name="Content Placeholder 5" descr="A collage of different cars&#10;&#10;Description automatically generated">
            <a:extLst>
              <a:ext uri="{FF2B5EF4-FFF2-40B4-BE49-F238E27FC236}">
                <a16:creationId xmlns:a16="http://schemas.microsoft.com/office/drawing/2014/main" id="{A6C8BF69-37D0-3A1A-7F0F-6DC09483D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724" y="902825"/>
            <a:ext cx="2194559" cy="5486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9206C-FB8F-D01A-0177-A7C1A7A1A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 descr="A collage of cars&#10;&#10;Description automatically generated">
            <a:extLst>
              <a:ext uri="{FF2B5EF4-FFF2-40B4-BE49-F238E27FC236}">
                <a16:creationId xmlns:a16="http://schemas.microsoft.com/office/drawing/2014/main" id="{D16B846B-3E93-4AB7-6C82-18F1F010E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683" y="902825"/>
            <a:ext cx="2194560" cy="5486400"/>
          </a:xfrm>
          <a:prstGeom prst="rect">
            <a:avLst/>
          </a:prstGeom>
        </p:spPr>
      </p:pic>
      <p:pic>
        <p:nvPicPr>
          <p:cNvPr id="10" name="Picture 9" descr="A collage of different cars&#10;&#10;Description automatically generated">
            <a:extLst>
              <a:ext uri="{FF2B5EF4-FFF2-40B4-BE49-F238E27FC236}">
                <a16:creationId xmlns:a16="http://schemas.microsoft.com/office/drawing/2014/main" id="{9854C488-95C5-061B-E4C1-2A83A6BF3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643" y="902825"/>
            <a:ext cx="219456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565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D1BA-E63A-456D-E49A-F4391C7C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Surveys for Interpretation – LDA Text Analysis</a:t>
            </a:r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9B3B00A-3EBB-EC8C-0B45-69212D3CD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13" y="1783184"/>
            <a:ext cx="4230443" cy="34999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65D99-82B1-B00B-6EF5-5BD12637A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28598EA-505A-3641-A416-4D85F5824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310" y="1783183"/>
            <a:ext cx="7975814" cy="349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50420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B9AB-656A-1823-0FB4-509A8126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Surveys for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0E7B-7457-C761-C720-2A1413A7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latent dimensions correlate with </a:t>
            </a:r>
            <a:r>
              <a:rPr lang="en-US" dirty="0" err="1"/>
              <a:t>NAcc</a:t>
            </a:r>
            <a:r>
              <a:rPr lang="en-US" dirty="0"/>
              <a:t> activity?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How can we interpret what these dimensions encode?</a:t>
            </a:r>
          </a:p>
          <a:p>
            <a:pPr marL="514350" indent="-514350">
              <a:buAutoNum type="arabicPeriod"/>
            </a:pPr>
            <a:r>
              <a:rPr lang="en-US" dirty="0"/>
              <a:t>Can we design surveys to target these interpretations, rather than asking hypothetical purchasing decisions?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64BF1-ACF9-527A-39CC-A5270848E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E1238-5862-244F-8A8E-98EA09295D0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A notebook with writing on it&#10;&#10;Description automatically generated">
            <a:extLst>
              <a:ext uri="{FF2B5EF4-FFF2-40B4-BE49-F238E27FC236}">
                <a16:creationId xmlns:a16="http://schemas.microsoft.com/office/drawing/2014/main" id="{49AC067D-92F5-B758-8725-70C52F810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41" b="44988"/>
          <a:stretch/>
        </p:blipFill>
        <p:spPr>
          <a:xfrm>
            <a:off x="1250066" y="2060291"/>
            <a:ext cx="8922628" cy="172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264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Franklin Gothic Book" panose="020B05030201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enden's Rotman PPT Template" id="{2A215617-DE04-104C-BBA7-A4FBC50BE17B}" vid="{923497FB-8442-7E45-8D21-34EE6D6B4C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162</Words>
  <Application>Microsoft Macintosh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Franklin Gothic Book</vt:lpstr>
      <vt:lpstr>Franklin Gothic Medium</vt:lpstr>
      <vt:lpstr>Office Theme</vt:lpstr>
      <vt:lpstr>Interpretable Visual Features for Demand Neuroforecasting</vt:lpstr>
      <vt:lpstr>Neuroforecasting</vt:lpstr>
      <vt:lpstr>PowerPoint Presentation</vt:lpstr>
      <vt:lpstr>Affect-Integration-Motivation (AIM) Network</vt:lpstr>
      <vt:lpstr>Affect-Integration-Motivation (AIM) Network</vt:lpstr>
      <vt:lpstr>Machine Learning might provide an answer.</vt:lpstr>
      <vt:lpstr>Latent Traversals</vt:lpstr>
      <vt:lpstr>Interpretable Visual Features for Cars</vt:lpstr>
      <vt:lpstr>motorVAEGAN</vt:lpstr>
      <vt:lpstr>Where we’re at now</vt:lpstr>
      <vt:lpstr>Surveys for Interpretation – LDA Text Analysis</vt:lpstr>
      <vt:lpstr>Surveys for Forecasting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Eum, Brenden</dc:creator>
  <cp:lastModifiedBy>Eum, Brenden</cp:lastModifiedBy>
  <cp:revision>7</cp:revision>
  <dcterms:created xsi:type="dcterms:W3CDTF">2024-11-20T16:59:17Z</dcterms:created>
  <dcterms:modified xsi:type="dcterms:W3CDTF">2025-05-01T20:31:22Z</dcterms:modified>
</cp:coreProperties>
</file>