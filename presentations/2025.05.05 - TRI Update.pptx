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1" r:id="rId4"/>
    <p:sldId id="277" r:id="rId5"/>
    <p:sldId id="273" r:id="rId6"/>
    <p:sldId id="261" r:id="rId7"/>
    <p:sldId id="274" r:id="rId8"/>
    <p:sldId id="275" r:id="rId9"/>
    <p:sldId id="263" r:id="rId10"/>
    <p:sldId id="276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9C"/>
    <a:srgbClr val="156082"/>
    <a:srgbClr val="11478A"/>
    <a:srgbClr val="2DC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8"/>
    <p:restoredTop sz="94555"/>
  </p:normalViewPr>
  <p:slideViewPr>
    <p:cSldViewPr snapToGrid="0">
      <p:cViewPr>
        <p:scale>
          <a:sx n="99" d="100"/>
          <a:sy n="99" d="100"/>
        </p:scale>
        <p:origin x="648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763FE-5FB9-BA4F-9EC8-81C8F255EB26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34AB9-B934-5D47-AD72-57FFB91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1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BF05-7065-A0A7-B54A-DDB380112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45" y="1467939"/>
            <a:ext cx="12006308" cy="2244689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B8E3E-366C-0C8B-9B5B-1DB877216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615" y="4042878"/>
            <a:ext cx="64590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6D873-DFEC-9B29-32EB-B3293B3FE9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645" y="6534364"/>
            <a:ext cx="1441807" cy="3030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97D464-A7C3-8EAE-14F7-CCBA41ABA4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888" t="23890" r="8223" b="22777"/>
          <a:stretch/>
        </p:blipFill>
        <p:spPr>
          <a:xfrm>
            <a:off x="191394" y="116963"/>
            <a:ext cx="4061639" cy="1020726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B78610D-B79C-981E-B8C9-77547AC543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4975" y="199155"/>
            <a:ext cx="1595357" cy="94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2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7E44-C4D2-8C77-6662-4A58D8B3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C59A6-0019-9C86-3A90-F3A8FDC9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471CC1-614E-77AB-60DD-FF436A9851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93FFB1B-3394-7E84-8548-A54CFFA0AA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583D2-79B2-53A6-70B4-B30859B600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93230316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A9F6-D00E-D472-5A75-F4593D90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768350"/>
            <a:ext cx="11959119" cy="2852737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E9F6D-A817-89F5-E231-C52DBEFE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11099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5A947F-F8F5-6BBF-4958-3C903A6386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4534B6-42F5-C9A3-C765-C590331A81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0FC2E-4B73-FF2D-CFB6-0F99DC5221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36585622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FFD1-0DD8-69E0-BB3A-761C62F6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9860-B482-9C5B-9819-1F893FF0C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688" y="1325562"/>
            <a:ext cx="5945312" cy="515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ECCCE-ED97-3D06-7D9A-D63B22FF4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33712"/>
            <a:ext cx="5945312" cy="5143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0F92C0-F18F-0426-7EDD-740D6C6347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84002B3-8776-16AE-BBAC-B76BA14F45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B6C2DB-8C43-A1BC-2D1F-6ACEA21A1A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190039600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2083-0B16-896B-FF62-88F413A8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5555"/>
            <a:ext cx="11948845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F0993-4260-F0A3-3390-348E9774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16" y="1331118"/>
            <a:ext cx="5982984" cy="1173957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3982F-6EC9-B243-044E-56DE59396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16" y="2505074"/>
            <a:ext cx="5982984" cy="397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8FB2A-004D-643B-04DD-6B73E5EB6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14606" y="1331118"/>
            <a:ext cx="5947255" cy="1173957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81CE4-9C47-F297-D5CE-36F4ACA37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513224"/>
            <a:ext cx="5965861" cy="3971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7D7271-4313-975A-7A27-AD753373E1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550B55D-BC7E-E95E-F451-A751468F19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56CDD-C2DC-6B99-1CE0-33B83BB094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393776545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785A-CD5E-26F4-ACA2-0F1F37CE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F63456-5A9A-9318-1CA2-398889D2F1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EE90BF7-E079-0B3E-1DB0-B7C80D18BB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CE4B6A-1E3A-D03C-7A67-C733342FD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44246821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571A03-EFA4-F56A-E7BE-178015358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12A8160-E1E0-9BC8-C8ED-20356E03B6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A1DE4-DAFA-84C9-A9E4-97C6D1D4C7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75580229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AAD2-BB18-2147-ABB2-C2E3874A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C012-B699-D959-BB38-84851F09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D3ED7-6BCA-C8AB-8BB3-690A8B1B9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29634A-F351-A305-2E7D-F3086168BD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12CF9C-8828-8016-07E9-6D2A9EE99F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EB71DD-A13A-920E-AAD1-908BC1E36F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235076749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1608-1B89-1D30-AD4D-14E33E37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533E5-759F-653B-572D-F19B649A5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DC844-9C6F-7FA0-BAEA-5DCDFA18A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209EC0-9A8D-6349-06E1-49A7DB45F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7B16CB-2B08-0BDC-15C7-60D34E9406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7F4C5-47D7-D0F8-4D9C-6905DD725A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236173411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B973-A78A-FB36-F7C2-B2D4AF08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C27FD-A248-1F79-E749-66560FD53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3DA26E2-232F-48C0-1646-09D870C09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B869E57-5946-18FC-9FBA-338EE54344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9D080-06FD-F2DC-B3FE-26BBDB4BB2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402775816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D2BA5-9E57-14E2-0876-5EE8DC82A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C4DB8-3A75-2717-7ADF-D7EF407FC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B80334-B7C2-ADF1-D0AC-726B5424C6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A6D87BB-2C9E-EBE8-873E-E665FA430C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8DF589-AFFC-03AA-1B67-5110BA1B11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16345953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8A1EDB-56B6-1BFB-E93E-034B86762F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6492874"/>
            <a:ext cx="12192001" cy="3865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8FA27-8733-C15E-7046-EDEF1799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88" y="0"/>
            <a:ext cx="1188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443E4-C209-968E-3367-EE461C177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688" y="1325562"/>
            <a:ext cx="11887200" cy="515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3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ranklin Gothic Book" panose="020B0503020102020204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4" pos="7680" userDrawn="1">
          <p15:clr>
            <a:srgbClr val="F26B43"/>
          </p15:clr>
        </p15:guide>
        <p15:guide id="5" orient="horz" pos="408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orient="horz" pos="4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6.png"/><Relationship Id="rId21" Type="http://schemas.openxmlformats.org/officeDocument/2006/relationships/image" Target="../media/image23.jpe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5.jpe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hyperlink" Target="https://www.google.com/url?sa=i&amp;url=https%3A%2F%2Fwww.vectorstock.com%2Froyalty-free-vector%2Ftelevision-ads-vector-31466562&amp;psig=AOvVaw2mCJBDNrd5iRcjJjJVaJfV&amp;ust=1746563691342000&amp;source=images&amp;cd=vfe&amp;opi=89978449&amp;ved=0CBQQjRxqFwoTCJij7v6WjY0DFQAAAAAdAAAAABAJ" TargetMode="Externa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jpeg"/><Relationship Id="rId9" Type="http://schemas.openxmlformats.org/officeDocument/2006/relationships/image" Target="../media/image11.jpe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6.png"/><Relationship Id="rId21" Type="http://schemas.openxmlformats.org/officeDocument/2006/relationships/image" Target="../media/image23.jpe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5.jpe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hyperlink" Target="https://www.google.com/url?sa=i&amp;url=https%3A%2F%2Fwww.vectorstock.com%2Froyalty-free-vector%2Ftelevision-ads-vector-31466562&amp;psig=AOvVaw2mCJBDNrd5iRcjJjJVaJfV&amp;ust=1746563691342000&amp;source=images&amp;cd=vfe&amp;opi=89978449&amp;ved=0CBQQjRxqFwoTCJij7v6WjY0DFQAAAAAdAAAAABAJ" TargetMode="Externa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jpeg"/><Relationship Id="rId9" Type="http://schemas.openxmlformats.org/officeDocument/2006/relationships/image" Target="../media/image11.jpe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6F16-FDC8-9F49-E68B-E14EC364C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Interpretable Visual Features for Demand Neuroforecasting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FE754-CB11-279B-47F4-2909D474F9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Brenden Eum</a:t>
            </a:r>
          </a:p>
          <a:p>
            <a:r>
              <a:rPr lang="en-US" dirty="0"/>
              <a:t>Brian Knutson</a:t>
            </a:r>
          </a:p>
          <a:p>
            <a:r>
              <a:rPr lang="en-US" dirty="0"/>
              <a:t>Shabnam Hakimi</a:t>
            </a:r>
          </a:p>
          <a:p>
            <a:r>
              <a:rPr lang="en-US" dirty="0"/>
              <a:t>Remi </a:t>
            </a:r>
            <a:r>
              <a:rPr lang="en-US" dirty="0" err="1"/>
              <a:t>Daviet</a:t>
            </a:r>
            <a:endParaRPr lang="en-US" dirty="0"/>
          </a:p>
          <a:p>
            <a:r>
              <a:rPr lang="en-US" dirty="0"/>
              <a:t>Ryan Webb</a:t>
            </a:r>
          </a:p>
        </p:txBody>
      </p:sp>
    </p:spTree>
    <p:extLst>
      <p:ext uri="{BB962C8B-B14F-4D97-AF65-F5344CB8AC3E}">
        <p14:creationId xmlns:p14="http://schemas.microsoft.com/office/powerpoint/2010/main" val="15613343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96DE-A573-3A90-8091-C59A84E0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Goal (replace with Key Takeaways later)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FBA21-DE0E-6598-61AD-2DE214CAA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688" y="1325563"/>
                <a:ext cx="11887200" cy="2807898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Machine learning methods yield a set of hypotheses that could explain why neuroforecasting is successful.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We apply this methodology to demand neuroforecasting of vehicles and hope to find that visual attributes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correlate with </a:t>
                </a:r>
                <a:r>
                  <a:rPr lang="en-US" dirty="0" err="1"/>
                  <a:t>NAcc</a:t>
                </a:r>
                <a:r>
                  <a:rPr lang="en-US" dirty="0"/>
                  <a:t> activity.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Surveys that target judgements about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may increase demand forecasting accuracy, relative to hypothetical purchasing decisions or liking ratings.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FBA21-DE0E-6598-61AD-2DE214CAA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688" y="1325563"/>
                <a:ext cx="11887200" cy="2807898"/>
              </a:xfrm>
              <a:blipFill>
                <a:blip r:embed="rId2"/>
                <a:stretch>
                  <a:fillRect l="-854" t="-4505" r="-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F7D5-B5D9-61CD-C2AE-B338C49EC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9F3316-B67B-5A6B-3C97-0DA67F1CB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734704"/>
              </p:ext>
            </p:extLst>
          </p:nvPr>
        </p:nvGraphicFramePr>
        <p:xfrm>
          <a:off x="372218" y="4178282"/>
          <a:ext cx="11444140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070">
                  <a:extLst>
                    <a:ext uri="{9D8B030D-6E8A-4147-A177-3AD203B41FA5}">
                      <a16:colId xmlns:a16="http://schemas.microsoft.com/office/drawing/2014/main" val="2569478438"/>
                    </a:ext>
                  </a:extLst>
                </a:gridCol>
                <a:gridCol w="5722070">
                  <a:extLst>
                    <a:ext uri="{9D8B030D-6E8A-4147-A177-3AD203B41FA5}">
                      <a16:colId xmlns:a16="http://schemas.microsoft.com/office/drawing/2014/main" val="122645759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Importance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39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Neuroscience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Marketing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25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Methods from machine learning can be used to suggest a limited set of hypotheses about functionality in a brain ROI, especially in regions dealing with early affect and visual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Explains why inclusion of alternative forms of data (like images) in demand forecasting can improve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11192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61AF0A-1B92-FA96-8A6D-54C3EABF3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FEA991C9-99AB-75E1-D616-D7183F478EDF}"/>
              </a:ext>
            </a:extLst>
          </p:cNvPr>
          <p:cNvSpPr/>
          <p:nvPr/>
        </p:nvSpPr>
        <p:spPr>
          <a:xfrm>
            <a:off x="0" y="3007150"/>
            <a:ext cx="12104015" cy="843699"/>
          </a:xfrm>
          <a:prstGeom prst="rightArrow">
            <a:avLst>
              <a:gd name="adj1" fmla="val 50000"/>
              <a:gd name="adj2" fmla="val 298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82EB5-60A8-56EB-8AE0-9CCC3272C91D}"/>
              </a:ext>
            </a:extLst>
          </p:cNvPr>
          <p:cNvSpPr txBox="1"/>
          <p:nvPr/>
        </p:nvSpPr>
        <p:spPr>
          <a:xfrm>
            <a:off x="433633" y="3244333"/>
            <a:ext cx="714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A6388-8779-B2AA-E196-D7108FD1F135}"/>
              </a:ext>
            </a:extLst>
          </p:cNvPr>
          <p:cNvSpPr txBox="1"/>
          <p:nvPr/>
        </p:nvSpPr>
        <p:spPr>
          <a:xfrm>
            <a:off x="2160824" y="3247417"/>
            <a:ext cx="707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1B18D-495E-DDFB-18AC-CF0E32DE52E7}"/>
              </a:ext>
            </a:extLst>
          </p:cNvPr>
          <p:cNvSpPr txBox="1"/>
          <p:nvPr/>
        </p:nvSpPr>
        <p:spPr>
          <a:xfrm>
            <a:off x="3880577" y="3244333"/>
            <a:ext cx="70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91B64-1291-4592-FD5F-5FCE32E5EE87}"/>
              </a:ext>
            </a:extLst>
          </p:cNvPr>
          <p:cNvSpPr txBox="1"/>
          <p:nvPr/>
        </p:nvSpPr>
        <p:spPr>
          <a:xfrm>
            <a:off x="5599881" y="3244333"/>
            <a:ext cx="71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93ED3-6194-9831-37F6-E15E2C00C8DA}"/>
              </a:ext>
            </a:extLst>
          </p:cNvPr>
          <p:cNvSpPr txBox="1"/>
          <p:nvPr/>
        </p:nvSpPr>
        <p:spPr>
          <a:xfrm>
            <a:off x="7325468" y="324433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DC258-6B03-2D2A-0D62-C32E226E9344}"/>
              </a:ext>
            </a:extLst>
          </p:cNvPr>
          <p:cNvSpPr txBox="1"/>
          <p:nvPr/>
        </p:nvSpPr>
        <p:spPr>
          <a:xfrm>
            <a:off x="9061443" y="324433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82DE5-46B0-CE0E-2F0E-C95FF1E33C68}"/>
              </a:ext>
            </a:extLst>
          </p:cNvPr>
          <p:cNvSpPr txBox="1"/>
          <p:nvPr/>
        </p:nvSpPr>
        <p:spPr>
          <a:xfrm>
            <a:off x="10797417" y="3244333"/>
            <a:ext cx="71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2024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4085476-4841-23CB-79F8-7F9949A5CDBE}"/>
              </a:ext>
            </a:extLst>
          </p:cNvPr>
          <p:cNvGrpSpPr/>
          <p:nvPr/>
        </p:nvGrpSpPr>
        <p:grpSpPr>
          <a:xfrm>
            <a:off x="-65989" y="1706424"/>
            <a:ext cx="1744388" cy="1512114"/>
            <a:chOff x="-65989" y="1706424"/>
            <a:chExt cx="1744388" cy="1512114"/>
          </a:xfrm>
        </p:grpSpPr>
        <p:pic>
          <p:nvPicPr>
            <p:cNvPr id="1032" name="Picture 8" descr="How to Get Your Music on the Top 100 Billboard Charts: A Step-by-Step Guide">
              <a:extLst>
                <a:ext uri="{FF2B5EF4-FFF2-40B4-BE49-F238E27FC236}">
                  <a16:creationId xmlns:a16="http://schemas.microsoft.com/office/drawing/2014/main" id="{BAF6B1DE-2CD8-301A-14AF-42001B98CC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49" y="1706424"/>
              <a:ext cx="1083736" cy="973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9478A4-0156-DE88-59C9-09A7A64496D6}"/>
                </a:ext>
              </a:extLst>
            </p:cNvPr>
            <p:cNvSpPr txBox="1"/>
            <p:nvPr/>
          </p:nvSpPr>
          <p:spPr>
            <a:xfrm>
              <a:off x="-65989" y="2734178"/>
              <a:ext cx="17443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Berns</a:t>
              </a:r>
              <a:r>
                <a:rPr lang="en-US" sz="1400" dirty="0">
                  <a:latin typeface="Franklin Gothic Book" panose="020B0503020102020204" pitchFamily="34" charset="0"/>
                </a:rPr>
                <a:t> &amp; Moore (JCP)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699EE8E-C5D4-1FCF-E770-1CB05CC69CE5}"/>
                </a:ext>
              </a:extLst>
            </p:cNvPr>
            <p:cNvCxnSpPr>
              <a:cxnSpLocks/>
            </p:cNvCxnSpPr>
            <p:nvPr/>
          </p:nvCxnSpPr>
          <p:spPr>
            <a:xfrm>
              <a:off x="803517" y="3053719"/>
              <a:ext cx="0" cy="164819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0" name="Picture 16" descr="Television ads Royalty Free Vector Image - VectorStock">
            <a:extLst>
              <a:ext uri="{FF2B5EF4-FFF2-40B4-BE49-F238E27FC236}">
                <a16:creationId xmlns:a16="http://schemas.microsoft.com/office/drawing/2014/main" id="{C6739CBA-D6D3-C492-1B8F-553761045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7987" y="-3661054"/>
            <a:ext cx="1547464" cy="166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3B8936C-4914-A4E7-73E6-C5E8DFBDC34E}"/>
              </a:ext>
            </a:extLst>
          </p:cNvPr>
          <p:cNvGrpSpPr/>
          <p:nvPr/>
        </p:nvGrpSpPr>
        <p:grpSpPr>
          <a:xfrm>
            <a:off x="1882358" y="6952"/>
            <a:ext cx="2612575" cy="3211587"/>
            <a:chOff x="1882358" y="6952"/>
            <a:chExt cx="2612575" cy="3211587"/>
          </a:xfrm>
        </p:grpSpPr>
        <p:pic>
          <p:nvPicPr>
            <p:cNvPr id="1034" name="Picture 10" descr="Microlending Reid Hoffman's Money">
              <a:extLst>
                <a:ext uri="{FF2B5EF4-FFF2-40B4-BE49-F238E27FC236}">
                  <a16:creationId xmlns:a16="http://schemas.microsoft.com/office/drawing/2014/main" id="{E7A0B1A5-7D44-A93E-89F5-52B5DE33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6459" y="1557761"/>
              <a:ext cx="2333695" cy="149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5B5D30-1A8F-2395-A55E-7E84AA87924E}"/>
                </a:ext>
              </a:extLst>
            </p:cNvPr>
            <p:cNvSpPr txBox="1"/>
            <p:nvPr/>
          </p:nvSpPr>
          <p:spPr>
            <a:xfrm>
              <a:off x="1882358" y="2734177"/>
              <a:ext cx="26125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Genevsky</a:t>
              </a:r>
              <a:r>
                <a:rPr lang="en-US" sz="1400" dirty="0">
                  <a:latin typeface="Franklin Gothic Book" panose="020B0503020102020204" pitchFamily="34" charset="0"/>
                </a:rPr>
                <a:t> &amp; Knutson (Psych Sci)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5C59776-4EA9-D58F-E51C-EC43F530437E}"/>
                </a:ext>
              </a:extLst>
            </p:cNvPr>
            <p:cNvCxnSpPr>
              <a:cxnSpLocks/>
            </p:cNvCxnSpPr>
            <p:nvPr/>
          </p:nvCxnSpPr>
          <p:spPr>
            <a:xfrm>
              <a:off x="3370153" y="3053720"/>
              <a:ext cx="0" cy="164819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39" name="Picture 15" descr="Television ads Royalty Free Vector Image - VectorStock">
              <a:hlinkClick r:id="rId5"/>
              <a:extLst>
                <a:ext uri="{FF2B5EF4-FFF2-40B4-BE49-F238E27FC236}">
                  <a16:creationId xmlns:a16="http://schemas.microsoft.com/office/drawing/2014/main" id="{293C9815-2FC6-67F3-70DD-55E1E436F9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923" b="21955"/>
            <a:stretch/>
          </p:blipFill>
          <p:spPr bwMode="auto">
            <a:xfrm>
              <a:off x="2211696" y="6952"/>
              <a:ext cx="1977543" cy="1326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68CA80-C533-17E6-628C-3E12DA08069C}"/>
                </a:ext>
              </a:extLst>
            </p:cNvPr>
            <p:cNvSpPr txBox="1"/>
            <p:nvPr/>
          </p:nvSpPr>
          <p:spPr>
            <a:xfrm>
              <a:off x="2145410" y="1273438"/>
              <a:ext cx="20864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Venkatraman et al. (JMR)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2A184D-035F-47AD-211E-EDD5D8E4B5D4}"/>
              </a:ext>
            </a:extLst>
          </p:cNvPr>
          <p:cNvGrpSpPr/>
          <p:nvPr/>
        </p:nvGrpSpPr>
        <p:grpSpPr>
          <a:xfrm>
            <a:off x="3973211" y="1776069"/>
            <a:ext cx="2801601" cy="1441044"/>
            <a:chOff x="3973211" y="1776069"/>
            <a:chExt cx="2801601" cy="1441044"/>
          </a:xfrm>
        </p:grpSpPr>
        <p:pic>
          <p:nvPicPr>
            <p:cNvPr id="1042" name="Picture 18" descr="What is Kickstarter? – TROVE.CC">
              <a:extLst>
                <a:ext uri="{FF2B5EF4-FFF2-40B4-BE49-F238E27FC236}">
                  <a16:creationId xmlns:a16="http://schemas.microsoft.com/office/drawing/2014/main" id="{6DD7A605-327D-E4E9-2707-784A82F0CC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69" t="43275" r="15489" b="42001"/>
            <a:stretch/>
          </p:blipFill>
          <p:spPr bwMode="auto">
            <a:xfrm>
              <a:off x="4283510" y="1776069"/>
              <a:ext cx="2215123" cy="33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6F6E8C1-FDC5-8E82-1A5D-2FB24CF10F7E}"/>
                </a:ext>
              </a:extLst>
            </p:cNvPr>
            <p:cNvCxnSpPr>
              <a:cxnSpLocks/>
            </p:cNvCxnSpPr>
            <p:nvPr/>
          </p:nvCxnSpPr>
          <p:spPr>
            <a:xfrm>
              <a:off x="5266513" y="2432115"/>
              <a:ext cx="0" cy="784998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92A492C-DC0A-EB5C-5D77-076C0042AE0E}"/>
                </a:ext>
              </a:extLst>
            </p:cNvPr>
            <p:cNvSpPr txBox="1"/>
            <p:nvPr/>
          </p:nvSpPr>
          <p:spPr>
            <a:xfrm>
              <a:off x="3973211" y="2057356"/>
              <a:ext cx="28016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Genevsky</a:t>
              </a:r>
              <a:r>
                <a:rPr lang="en-US" sz="1400" dirty="0">
                  <a:latin typeface="Franklin Gothic Book" panose="020B0503020102020204" pitchFamily="34" charset="0"/>
                </a:rPr>
                <a:t>, Yoon, Knutson (J Neuro)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964C40-03E3-94C5-AEA7-35ACF7721C9C}"/>
              </a:ext>
            </a:extLst>
          </p:cNvPr>
          <p:cNvGrpSpPr/>
          <p:nvPr/>
        </p:nvGrpSpPr>
        <p:grpSpPr>
          <a:xfrm>
            <a:off x="6998698" y="1776069"/>
            <a:ext cx="1525226" cy="1440131"/>
            <a:chOff x="6998698" y="1776069"/>
            <a:chExt cx="1525226" cy="1440131"/>
          </a:xfrm>
        </p:grpSpPr>
        <p:pic>
          <p:nvPicPr>
            <p:cNvPr id="1044" name="Picture 20" descr="YouTube | Google for Developers">
              <a:extLst>
                <a:ext uri="{FF2B5EF4-FFF2-40B4-BE49-F238E27FC236}">
                  <a16:creationId xmlns:a16="http://schemas.microsoft.com/office/drawing/2014/main" id="{BFE216AA-05B7-85C2-C050-F0F372E4E6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6661" y="1776069"/>
              <a:ext cx="1364945" cy="94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47B90B-943F-D44C-83F3-1BB890C4F7CC}"/>
                </a:ext>
              </a:extLst>
            </p:cNvPr>
            <p:cNvSpPr txBox="1"/>
            <p:nvPr/>
          </p:nvSpPr>
          <p:spPr>
            <a:xfrm>
              <a:off x="6998698" y="2732890"/>
              <a:ext cx="15252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Tong et al. (PNAS)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1E4D51-C02C-FF9B-E1D4-25A14C495416}"/>
                </a:ext>
              </a:extLst>
            </p:cNvPr>
            <p:cNvCxnSpPr>
              <a:cxnSpLocks/>
            </p:cNvCxnSpPr>
            <p:nvPr/>
          </p:nvCxnSpPr>
          <p:spPr>
            <a:xfrm>
              <a:off x="7696952" y="3051381"/>
              <a:ext cx="0" cy="164819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FB76CD-FA0D-E920-99C0-A2FA811213A2}"/>
              </a:ext>
            </a:extLst>
          </p:cNvPr>
          <p:cNvGrpSpPr/>
          <p:nvPr/>
        </p:nvGrpSpPr>
        <p:grpSpPr>
          <a:xfrm>
            <a:off x="4054101" y="158266"/>
            <a:ext cx="4831435" cy="1362749"/>
            <a:chOff x="4054101" y="158266"/>
            <a:chExt cx="4831435" cy="1362749"/>
          </a:xfrm>
        </p:grpSpPr>
        <p:pic>
          <p:nvPicPr>
            <p:cNvPr id="1050" name="Picture 26" descr="Movie Ticket Stock Illustrations – 36,843 Movie Ticket Stock Illustrations,  Vectors &amp; Clipart - Dreamstime">
              <a:extLst>
                <a:ext uri="{FF2B5EF4-FFF2-40B4-BE49-F238E27FC236}">
                  <a16:creationId xmlns:a16="http://schemas.microsoft.com/office/drawing/2014/main" id="{0256610D-07B2-538E-1E1E-707054E90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4101" y="241879"/>
              <a:ext cx="1798789" cy="982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2" name="Picture 28">
              <a:extLst>
                <a:ext uri="{FF2B5EF4-FFF2-40B4-BE49-F238E27FC236}">
                  <a16:creationId xmlns:a16="http://schemas.microsoft.com/office/drawing/2014/main" id="{DDF56841-A6E4-1950-E14E-3ADBF0345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9371" y="241124"/>
              <a:ext cx="1133037" cy="932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" name="Picture 30" descr="Edeka - Wikipedia">
              <a:extLst>
                <a:ext uri="{FF2B5EF4-FFF2-40B4-BE49-F238E27FC236}">
                  <a16:creationId xmlns:a16="http://schemas.microsoft.com/office/drawing/2014/main" id="{D6A33D95-5A01-8CED-60F5-F73F661BAA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1547" y="158266"/>
              <a:ext cx="620603" cy="750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Graphic 40" descr="Shopping basket with solid fill">
              <a:extLst>
                <a:ext uri="{FF2B5EF4-FFF2-40B4-BE49-F238E27FC236}">
                  <a16:creationId xmlns:a16="http://schemas.microsoft.com/office/drawing/2014/main" id="{AA046536-2502-DAD6-0F33-A024F2BEA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193945" y="829424"/>
              <a:ext cx="691591" cy="691591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42E9780-2223-AA9B-8ECE-DB30C980C341}"/>
              </a:ext>
            </a:extLst>
          </p:cNvPr>
          <p:cNvGrpSpPr/>
          <p:nvPr/>
        </p:nvGrpSpPr>
        <p:grpSpPr>
          <a:xfrm>
            <a:off x="10408640" y="67776"/>
            <a:ext cx="1783360" cy="3165991"/>
            <a:chOff x="10408640" y="67776"/>
            <a:chExt cx="1783360" cy="3165991"/>
          </a:xfrm>
        </p:grpSpPr>
        <p:pic>
          <p:nvPicPr>
            <p:cNvPr id="1046" name="Picture 22" descr="Instagram - Wikipedia">
              <a:extLst>
                <a:ext uri="{FF2B5EF4-FFF2-40B4-BE49-F238E27FC236}">
                  <a16:creationId xmlns:a16="http://schemas.microsoft.com/office/drawing/2014/main" id="{167DF536-EE0B-8858-100D-D1DC1D46B8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7844" y="1642545"/>
              <a:ext cx="948865" cy="94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61265F-9D2F-9572-A6FB-09D60127F293}"/>
                </a:ext>
              </a:extLst>
            </p:cNvPr>
            <p:cNvSpPr txBox="1"/>
            <p:nvPr/>
          </p:nvSpPr>
          <p:spPr>
            <a:xfrm>
              <a:off x="10472555" y="2573399"/>
              <a:ext cx="17194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Srirangarajan</a:t>
              </a:r>
              <a:r>
                <a:rPr lang="en-US" sz="1400" dirty="0">
                  <a:latin typeface="Franklin Gothic Book" panose="020B0503020102020204" pitchFamily="34" charset="0"/>
                </a:rPr>
                <a:t> et al.?</a:t>
              </a:r>
            </a:p>
          </p:txBody>
        </p:sp>
        <p:pic>
          <p:nvPicPr>
            <p:cNvPr id="1058" name="Picture 34" descr="Emblem | Exclusive Product Stories | Toyota Brand | Mobility | Toyota Motor  Corporation Official Global Website">
              <a:extLst>
                <a:ext uri="{FF2B5EF4-FFF2-40B4-BE49-F238E27FC236}">
                  <a16:creationId xmlns:a16="http://schemas.microsoft.com/office/drawing/2014/main" id="{E89C65A3-55F3-02B5-1E1B-B8A95E4965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34" t="21119" r="29384" b="21981"/>
            <a:stretch/>
          </p:blipFill>
          <p:spPr bwMode="auto">
            <a:xfrm>
              <a:off x="10408640" y="67776"/>
              <a:ext cx="1711106" cy="1180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91646B1-CC94-7302-44C9-2C5CF84DE1A4}"/>
                </a:ext>
              </a:extLst>
            </p:cNvPr>
            <p:cNvCxnSpPr>
              <a:cxnSpLocks/>
            </p:cNvCxnSpPr>
            <p:nvPr/>
          </p:nvCxnSpPr>
          <p:spPr>
            <a:xfrm>
              <a:off x="11651966" y="2915059"/>
              <a:ext cx="0" cy="318708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3D7775-AE33-640D-6E3E-9B7E530F58A6}"/>
                </a:ext>
              </a:extLst>
            </p:cNvPr>
            <p:cNvSpPr txBox="1"/>
            <p:nvPr/>
          </p:nvSpPr>
          <p:spPr>
            <a:xfrm>
              <a:off x="10659987" y="1226211"/>
              <a:ext cx="14597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Christiano</a:t>
              </a:r>
              <a:r>
                <a:rPr lang="en-US" sz="1400" dirty="0">
                  <a:latin typeface="Franklin Gothic Book" panose="020B0503020102020204" pitchFamily="34" charset="0"/>
                </a:rPr>
                <a:t> et al.?</a:t>
              </a:r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498DB5E8-2950-1D87-4F0A-05C467AC0695}"/>
              </a:ext>
            </a:extLst>
          </p:cNvPr>
          <p:cNvGrpSpPr/>
          <p:nvPr/>
        </p:nvGrpSpPr>
        <p:grpSpPr>
          <a:xfrm>
            <a:off x="8103325" y="3613665"/>
            <a:ext cx="2111219" cy="2218233"/>
            <a:chOff x="8103325" y="3613665"/>
            <a:chExt cx="2111219" cy="2218233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5AF664D-82F3-FB6E-2F81-BDBCC02D48C1}"/>
                </a:ext>
              </a:extLst>
            </p:cNvPr>
            <p:cNvCxnSpPr>
              <a:cxnSpLocks/>
            </p:cNvCxnSpPr>
            <p:nvPr/>
          </p:nvCxnSpPr>
          <p:spPr>
            <a:xfrm>
              <a:off x="9984314" y="3613665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Picture 61" descr="A black truck on a white background&#10;&#10;Description automatically generated">
              <a:extLst>
                <a:ext uri="{FF2B5EF4-FFF2-40B4-BE49-F238E27FC236}">
                  <a16:creationId xmlns:a16="http://schemas.microsoft.com/office/drawing/2014/main" id="{6395BCC0-588E-1FF4-9C52-6D3C8FE4F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229586" y="3870163"/>
              <a:ext cx="1861005" cy="820601"/>
            </a:xfrm>
            <a:prstGeom prst="rect">
              <a:avLst/>
            </a:prstGeom>
          </p:spPr>
        </p:pic>
        <p:pic>
          <p:nvPicPr>
            <p:cNvPr id="1024" name="Picture 1023" descr="A black car on a white background&#10;&#10;Description automatically generated">
              <a:extLst>
                <a:ext uri="{FF2B5EF4-FFF2-40B4-BE49-F238E27FC236}">
                  <a16:creationId xmlns:a16="http://schemas.microsoft.com/office/drawing/2014/main" id="{2E08811D-0171-567F-FAC2-BCFF00E95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229587" y="4656951"/>
              <a:ext cx="1861004" cy="820600"/>
            </a:xfrm>
            <a:prstGeom prst="rect">
              <a:avLst/>
            </a:prstGeom>
          </p:spPr>
        </p:pic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555F77C1-140E-DEC7-7B9B-754EEC6C8CAC}"/>
                </a:ext>
              </a:extLst>
            </p:cNvPr>
            <p:cNvSpPr txBox="1"/>
            <p:nvPr/>
          </p:nvSpPr>
          <p:spPr>
            <a:xfrm>
              <a:off x="8103325" y="5524121"/>
              <a:ext cx="2111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Burnap</a:t>
              </a:r>
              <a:r>
                <a:rPr lang="en-US" sz="1400" dirty="0">
                  <a:latin typeface="Franklin Gothic Book" panose="020B0503020102020204" pitchFamily="34" charset="0"/>
                </a:rPr>
                <a:t> et al. (Market Sci)</a:t>
              </a:r>
            </a:p>
          </p:txBody>
        </p:sp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C9F9A6D4-8263-02A0-3EC1-8755BD79F432}"/>
              </a:ext>
            </a:extLst>
          </p:cNvPr>
          <p:cNvGrpSpPr/>
          <p:nvPr/>
        </p:nvGrpSpPr>
        <p:grpSpPr>
          <a:xfrm>
            <a:off x="9944982" y="3557718"/>
            <a:ext cx="2351156" cy="2941119"/>
            <a:chOff x="9944982" y="3557718"/>
            <a:chExt cx="2351156" cy="2941119"/>
          </a:xfrm>
        </p:grpSpPr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B557775A-F89D-9E5C-FA2C-AD1A3ACFE259}"/>
                </a:ext>
              </a:extLst>
            </p:cNvPr>
            <p:cNvCxnSpPr>
              <a:cxnSpLocks/>
            </p:cNvCxnSpPr>
            <p:nvPr/>
          </p:nvCxnSpPr>
          <p:spPr>
            <a:xfrm>
              <a:off x="11143710" y="3557718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DA9D63A1-2591-CECF-6B65-D59D39A8234B}"/>
                </a:ext>
              </a:extLst>
            </p:cNvPr>
            <p:cNvSpPr txBox="1"/>
            <p:nvPr/>
          </p:nvSpPr>
          <p:spPr>
            <a:xfrm>
              <a:off x="10343817" y="6191060"/>
              <a:ext cx="16296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Sisodia et al. (JMR)</a:t>
              </a:r>
            </a:p>
          </p:txBody>
        </p:sp>
        <p:pic>
          <p:nvPicPr>
            <p:cNvPr id="1038" name="Picture 1037" descr="A close-up of a person&#10;&#10;Description automatically generated">
              <a:extLst>
                <a:ext uri="{FF2B5EF4-FFF2-40B4-BE49-F238E27FC236}">
                  <a16:creationId xmlns:a16="http://schemas.microsoft.com/office/drawing/2014/main" id="{94F8C27A-B57C-FF9D-08E3-4070BE7F7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225358" y="3870038"/>
              <a:ext cx="952500" cy="1130300"/>
            </a:xfrm>
            <a:prstGeom prst="rect">
              <a:avLst/>
            </a:prstGeom>
          </p:spPr>
        </p:pic>
        <p:pic>
          <p:nvPicPr>
            <p:cNvPr id="1043" name="Picture 1042" descr="A close-up of a person&#10;&#10;Description automatically generated">
              <a:extLst>
                <a:ext uri="{FF2B5EF4-FFF2-40B4-BE49-F238E27FC236}">
                  <a16:creationId xmlns:a16="http://schemas.microsoft.com/office/drawing/2014/main" id="{2B174907-0BF2-BEDF-A54A-C6E0FEA65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100603" y="3871243"/>
              <a:ext cx="952500" cy="1130300"/>
            </a:xfrm>
            <a:prstGeom prst="rect">
              <a:avLst/>
            </a:prstGeom>
          </p:spPr>
        </p:pic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FCFEF291-64F1-6878-4918-B5BFE5B915B4}"/>
                </a:ext>
              </a:extLst>
            </p:cNvPr>
            <p:cNvSpPr txBox="1"/>
            <p:nvPr/>
          </p:nvSpPr>
          <p:spPr>
            <a:xfrm>
              <a:off x="9944982" y="4961125"/>
              <a:ext cx="23511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Ludwig &amp; Mullainathan (QJE)</a:t>
              </a:r>
            </a:p>
          </p:txBody>
        </p:sp>
        <p:pic>
          <p:nvPicPr>
            <p:cNvPr id="1049" name="Picture 1048" descr="A cat sitting in a circle&#10;&#10;Description automatically generated with medium confidence">
              <a:extLst>
                <a:ext uri="{FF2B5EF4-FFF2-40B4-BE49-F238E27FC236}">
                  <a16:creationId xmlns:a16="http://schemas.microsoft.com/office/drawing/2014/main" id="{FE65C904-D3C4-D59E-F7A9-935F06094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472555" y="5313716"/>
              <a:ext cx="1187010" cy="879267"/>
            </a:xfrm>
            <a:prstGeom prst="rect">
              <a:avLst/>
            </a:prstGeom>
          </p:spPr>
        </p:pic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E26B19EC-3DA7-8FE9-7092-0864B280098A}"/>
              </a:ext>
            </a:extLst>
          </p:cNvPr>
          <p:cNvGrpSpPr/>
          <p:nvPr/>
        </p:nvGrpSpPr>
        <p:grpSpPr>
          <a:xfrm>
            <a:off x="2948562" y="3587907"/>
            <a:ext cx="2414780" cy="2679328"/>
            <a:chOff x="2948562" y="3587907"/>
            <a:chExt cx="2414780" cy="2679328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2AF951B-FE51-D27E-0CD2-0FFC5878C7B0}"/>
                </a:ext>
              </a:extLst>
            </p:cNvPr>
            <p:cNvCxnSpPr>
              <a:cxnSpLocks/>
            </p:cNvCxnSpPr>
            <p:nvPr/>
          </p:nvCxnSpPr>
          <p:spPr>
            <a:xfrm>
              <a:off x="4217126" y="3587907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60" name="Picture 36" descr="2006 Toyota Camry LE at Gold Rush Auto Sales - Research - GrooveCar">
              <a:extLst>
                <a:ext uri="{FF2B5EF4-FFF2-40B4-BE49-F238E27FC236}">
                  <a16:creationId xmlns:a16="http://schemas.microsoft.com/office/drawing/2014/main" id="{A5819CC9-5BB6-43C0-6BA5-6142712517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999" b="28945"/>
            <a:stretch/>
          </p:blipFill>
          <p:spPr bwMode="auto">
            <a:xfrm>
              <a:off x="2948562" y="3912428"/>
              <a:ext cx="2317951" cy="71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AC352E7-FA05-8AE6-A1DB-2278744F6A45}"/>
                </a:ext>
              </a:extLst>
            </p:cNvPr>
            <p:cNvSpPr txBox="1"/>
            <p:nvPr/>
          </p:nvSpPr>
          <p:spPr>
            <a:xfrm>
              <a:off x="3188644" y="5959458"/>
              <a:ext cx="21746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Burnap</a:t>
              </a:r>
              <a:r>
                <a:rPr lang="en-US" sz="1400" dirty="0">
                  <a:latin typeface="Franklin Gothic Book" panose="020B0503020102020204" pitchFamily="34" charset="0"/>
                </a:rPr>
                <a:t> et al. (J Mech Des)</a:t>
              </a:r>
            </a:p>
          </p:txBody>
        </p:sp>
        <p:pic>
          <p:nvPicPr>
            <p:cNvPr id="1059" name="Picture 1058" descr="A diagram of a graph&#10;&#10;Description automatically generated">
              <a:extLst>
                <a:ext uri="{FF2B5EF4-FFF2-40B4-BE49-F238E27FC236}">
                  <a16:creationId xmlns:a16="http://schemas.microsoft.com/office/drawing/2014/main" id="{2B316118-2A4C-9DFF-CFF2-5B064FA2A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08954" y="4673219"/>
              <a:ext cx="1416343" cy="1311912"/>
            </a:xfrm>
            <a:prstGeom prst="rect">
              <a:avLst/>
            </a:prstGeom>
          </p:spPr>
        </p:pic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1C1860A9-384E-D75B-0D24-A47C300B8D86}"/>
              </a:ext>
            </a:extLst>
          </p:cNvPr>
          <p:cNvGrpSpPr/>
          <p:nvPr/>
        </p:nvGrpSpPr>
        <p:grpSpPr>
          <a:xfrm>
            <a:off x="5257683" y="3564842"/>
            <a:ext cx="2589940" cy="1743273"/>
            <a:chOff x="5257683" y="3564842"/>
            <a:chExt cx="2589940" cy="1743273"/>
          </a:xfrm>
        </p:grpSpPr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E4251368-98F1-E506-7A0A-AA445B70A3E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564842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66" name="Picture 1065" descr="A person smiling at the camera&#10;&#10;Description automatically generated">
              <a:extLst>
                <a:ext uri="{FF2B5EF4-FFF2-40B4-BE49-F238E27FC236}">
                  <a16:creationId xmlns:a16="http://schemas.microsoft.com/office/drawing/2014/main" id="{DA03868E-B57C-27D5-4C6B-D45DCFBE7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586897" y="3866537"/>
              <a:ext cx="806451" cy="1137302"/>
            </a:xfrm>
            <a:prstGeom prst="rect">
              <a:avLst/>
            </a:prstGeom>
          </p:spPr>
        </p:pic>
        <p:pic>
          <p:nvPicPr>
            <p:cNvPr id="1064" name="Picture 1063" descr="A close-up of a person smiling&#10;&#10;Description automatically generated">
              <a:extLst>
                <a:ext uri="{FF2B5EF4-FFF2-40B4-BE49-F238E27FC236}">
                  <a16:creationId xmlns:a16="http://schemas.microsoft.com/office/drawing/2014/main" id="{EC0CC53E-7C3C-B454-939A-C453C9667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780447" y="3866537"/>
              <a:ext cx="806450" cy="1137302"/>
            </a:xfrm>
            <a:prstGeom prst="rect">
              <a:avLst/>
            </a:prstGeom>
          </p:spPr>
        </p:pic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87D88514-74F1-2BE3-152A-5A6A2971C848}"/>
                </a:ext>
              </a:extLst>
            </p:cNvPr>
            <p:cNvSpPr txBox="1"/>
            <p:nvPr/>
          </p:nvSpPr>
          <p:spPr>
            <a:xfrm>
              <a:off x="5257683" y="5000338"/>
              <a:ext cx="2589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Lin, </a:t>
              </a:r>
              <a:r>
                <a:rPr lang="en-US" sz="1400" dirty="0" err="1">
                  <a:latin typeface="Franklin Gothic Book" panose="020B0503020102020204" pitchFamily="34" charset="0"/>
                </a:rPr>
                <a:t>Adolphs</a:t>
              </a:r>
              <a:r>
                <a:rPr lang="en-US" sz="1400" dirty="0">
                  <a:latin typeface="Franklin Gothic Book" panose="020B0503020102020204" pitchFamily="34" charset="0"/>
                </a:rPr>
                <a:t>, Alvarez (Psych Sci)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1048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29BB6-3107-076C-66D0-9BC460BE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5CCE3-405D-BEE4-350B-0267F8742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143F02BB-5BB6-EBC0-1B64-F8AEA2E87D3B}"/>
              </a:ext>
            </a:extLst>
          </p:cNvPr>
          <p:cNvSpPr/>
          <p:nvPr/>
        </p:nvSpPr>
        <p:spPr>
          <a:xfrm>
            <a:off x="0" y="3007150"/>
            <a:ext cx="12104015" cy="843699"/>
          </a:xfrm>
          <a:prstGeom prst="rightArrow">
            <a:avLst>
              <a:gd name="adj1" fmla="val 50000"/>
              <a:gd name="adj2" fmla="val 298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6EC66-DEF2-163A-F965-A5A8CDCE4C92}"/>
              </a:ext>
            </a:extLst>
          </p:cNvPr>
          <p:cNvSpPr txBox="1"/>
          <p:nvPr/>
        </p:nvSpPr>
        <p:spPr>
          <a:xfrm>
            <a:off x="433633" y="3244333"/>
            <a:ext cx="714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F5AFB-0F6D-D702-67B7-9EB60F7806D3}"/>
              </a:ext>
            </a:extLst>
          </p:cNvPr>
          <p:cNvSpPr txBox="1"/>
          <p:nvPr/>
        </p:nvSpPr>
        <p:spPr>
          <a:xfrm>
            <a:off x="2160824" y="3247417"/>
            <a:ext cx="707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75614-26E0-066C-7380-5B67AA7E7ECB}"/>
              </a:ext>
            </a:extLst>
          </p:cNvPr>
          <p:cNvSpPr txBox="1"/>
          <p:nvPr/>
        </p:nvSpPr>
        <p:spPr>
          <a:xfrm>
            <a:off x="3880577" y="3244333"/>
            <a:ext cx="70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9E01E-69ED-D851-5ED9-677F5849E787}"/>
              </a:ext>
            </a:extLst>
          </p:cNvPr>
          <p:cNvSpPr txBox="1"/>
          <p:nvPr/>
        </p:nvSpPr>
        <p:spPr>
          <a:xfrm>
            <a:off x="5599881" y="3244333"/>
            <a:ext cx="71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D4E19-63BE-70E2-AA34-1E284BF4294D}"/>
              </a:ext>
            </a:extLst>
          </p:cNvPr>
          <p:cNvSpPr txBox="1"/>
          <p:nvPr/>
        </p:nvSpPr>
        <p:spPr>
          <a:xfrm>
            <a:off x="7325468" y="324433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1BC70C-964A-9DB0-BBDA-EC182DFA2218}"/>
              </a:ext>
            </a:extLst>
          </p:cNvPr>
          <p:cNvSpPr txBox="1"/>
          <p:nvPr/>
        </p:nvSpPr>
        <p:spPr>
          <a:xfrm>
            <a:off x="9061443" y="324433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C97F6D-2FB4-4B66-2E0D-762595C86EBC}"/>
              </a:ext>
            </a:extLst>
          </p:cNvPr>
          <p:cNvSpPr txBox="1"/>
          <p:nvPr/>
        </p:nvSpPr>
        <p:spPr>
          <a:xfrm>
            <a:off x="10797417" y="3244333"/>
            <a:ext cx="71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2024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B4B427C-D420-689D-3926-97876107FFF2}"/>
              </a:ext>
            </a:extLst>
          </p:cNvPr>
          <p:cNvGrpSpPr/>
          <p:nvPr/>
        </p:nvGrpSpPr>
        <p:grpSpPr>
          <a:xfrm>
            <a:off x="-65989" y="1706424"/>
            <a:ext cx="1744388" cy="1512114"/>
            <a:chOff x="-65989" y="1706424"/>
            <a:chExt cx="1744388" cy="1512114"/>
          </a:xfrm>
        </p:grpSpPr>
        <p:pic>
          <p:nvPicPr>
            <p:cNvPr id="1032" name="Picture 8" descr="How to Get Your Music on the Top 100 Billboard Charts: A Step-by-Step Guide">
              <a:extLst>
                <a:ext uri="{FF2B5EF4-FFF2-40B4-BE49-F238E27FC236}">
                  <a16:creationId xmlns:a16="http://schemas.microsoft.com/office/drawing/2014/main" id="{A0FF1EB7-5E2D-9F25-5929-F0317FF75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49" y="1706424"/>
              <a:ext cx="1083736" cy="973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5B0AEE-F4E8-3709-FFD8-2231430EBF07}"/>
                </a:ext>
              </a:extLst>
            </p:cNvPr>
            <p:cNvSpPr txBox="1"/>
            <p:nvPr/>
          </p:nvSpPr>
          <p:spPr>
            <a:xfrm>
              <a:off x="-65989" y="2734178"/>
              <a:ext cx="17443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Berns</a:t>
              </a:r>
              <a:r>
                <a:rPr lang="en-US" sz="1400" dirty="0">
                  <a:latin typeface="Franklin Gothic Book" panose="020B0503020102020204" pitchFamily="34" charset="0"/>
                </a:rPr>
                <a:t> &amp; Moore (JCP)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C498C6A-9BEA-14E9-A84E-35E8CA5238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517" y="3053719"/>
              <a:ext cx="0" cy="164819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0" name="Picture 16" descr="Television ads Royalty Free Vector Image - VectorStock">
            <a:extLst>
              <a:ext uri="{FF2B5EF4-FFF2-40B4-BE49-F238E27FC236}">
                <a16:creationId xmlns:a16="http://schemas.microsoft.com/office/drawing/2014/main" id="{38DAC63D-4AE1-7957-2E82-04D44F488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7987" y="-3661054"/>
            <a:ext cx="1547464" cy="166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5C67BE36-3607-E36B-70D3-3AC9DF165839}"/>
              </a:ext>
            </a:extLst>
          </p:cNvPr>
          <p:cNvGrpSpPr/>
          <p:nvPr/>
        </p:nvGrpSpPr>
        <p:grpSpPr>
          <a:xfrm>
            <a:off x="1882358" y="6952"/>
            <a:ext cx="2612575" cy="3211587"/>
            <a:chOff x="1882358" y="6952"/>
            <a:chExt cx="2612575" cy="3211587"/>
          </a:xfrm>
        </p:grpSpPr>
        <p:pic>
          <p:nvPicPr>
            <p:cNvPr id="1034" name="Picture 10" descr="Microlending Reid Hoffman's Money">
              <a:extLst>
                <a:ext uri="{FF2B5EF4-FFF2-40B4-BE49-F238E27FC236}">
                  <a16:creationId xmlns:a16="http://schemas.microsoft.com/office/drawing/2014/main" id="{9DCA240F-0A61-559C-00F9-E59BAF2565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6459" y="1557761"/>
              <a:ext cx="2333695" cy="149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4B036C-16BB-1DDE-CD69-A4DD3618B6DC}"/>
                </a:ext>
              </a:extLst>
            </p:cNvPr>
            <p:cNvSpPr txBox="1"/>
            <p:nvPr/>
          </p:nvSpPr>
          <p:spPr>
            <a:xfrm>
              <a:off x="1882358" y="2734177"/>
              <a:ext cx="26125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Genevsky</a:t>
              </a:r>
              <a:r>
                <a:rPr lang="en-US" sz="1400" dirty="0">
                  <a:latin typeface="Franklin Gothic Book" panose="020B0503020102020204" pitchFamily="34" charset="0"/>
                </a:rPr>
                <a:t> &amp; Knutson (Psych Sci)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BFD0457-AB6B-D8E4-1BAD-BDB89D0D36D1}"/>
                </a:ext>
              </a:extLst>
            </p:cNvPr>
            <p:cNvCxnSpPr>
              <a:cxnSpLocks/>
            </p:cNvCxnSpPr>
            <p:nvPr/>
          </p:nvCxnSpPr>
          <p:spPr>
            <a:xfrm>
              <a:off x="3370153" y="3053720"/>
              <a:ext cx="0" cy="164819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39" name="Picture 15" descr="Television ads Royalty Free Vector Image - VectorStock">
              <a:hlinkClick r:id="rId5"/>
              <a:extLst>
                <a:ext uri="{FF2B5EF4-FFF2-40B4-BE49-F238E27FC236}">
                  <a16:creationId xmlns:a16="http://schemas.microsoft.com/office/drawing/2014/main" id="{D0C28C88-32D0-799E-188E-3E62250BEE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923" b="21955"/>
            <a:stretch/>
          </p:blipFill>
          <p:spPr bwMode="auto">
            <a:xfrm>
              <a:off x="2211696" y="6952"/>
              <a:ext cx="1977543" cy="1326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7C8D65-D1B9-8D02-324F-2D009DD9D374}"/>
                </a:ext>
              </a:extLst>
            </p:cNvPr>
            <p:cNvSpPr txBox="1"/>
            <p:nvPr/>
          </p:nvSpPr>
          <p:spPr>
            <a:xfrm>
              <a:off x="2145410" y="1273438"/>
              <a:ext cx="20864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Venkatraman et al. (JMR)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79B049-8104-6AFC-6834-FADDDAF7BEF7}"/>
              </a:ext>
            </a:extLst>
          </p:cNvPr>
          <p:cNvGrpSpPr/>
          <p:nvPr/>
        </p:nvGrpSpPr>
        <p:grpSpPr>
          <a:xfrm>
            <a:off x="3973211" y="1776069"/>
            <a:ext cx="2801601" cy="1441044"/>
            <a:chOff x="3973211" y="1776069"/>
            <a:chExt cx="2801601" cy="1441044"/>
          </a:xfrm>
        </p:grpSpPr>
        <p:pic>
          <p:nvPicPr>
            <p:cNvPr id="1042" name="Picture 18" descr="What is Kickstarter? – TROVE.CC">
              <a:extLst>
                <a:ext uri="{FF2B5EF4-FFF2-40B4-BE49-F238E27FC236}">
                  <a16:creationId xmlns:a16="http://schemas.microsoft.com/office/drawing/2014/main" id="{746E4F1C-CD05-145D-15AF-B445BC6815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69" t="43275" r="15489" b="42001"/>
            <a:stretch/>
          </p:blipFill>
          <p:spPr bwMode="auto">
            <a:xfrm>
              <a:off x="4283510" y="1776069"/>
              <a:ext cx="2215123" cy="33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1F46272-7BB5-D066-9D6E-23B72ECE5537}"/>
                </a:ext>
              </a:extLst>
            </p:cNvPr>
            <p:cNvCxnSpPr>
              <a:cxnSpLocks/>
            </p:cNvCxnSpPr>
            <p:nvPr/>
          </p:nvCxnSpPr>
          <p:spPr>
            <a:xfrm>
              <a:off x="5266513" y="2432115"/>
              <a:ext cx="0" cy="784998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5DD6A5-F537-1C2D-CE60-CE331918D4B1}"/>
                </a:ext>
              </a:extLst>
            </p:cNvPr>
            <p:cNvSpPr txBox="1"/>
            <p:nvPr/>
          </p:nvSpPr>
          <p:spPr>
            <a:xfrm>
              <a:off x="3973211" y="2057356"/>
              <a:ext cx="28016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Genevsky</a:t>
              </a:r>
              <a:r>
                <a:rPr lang="en-US" sz="1400" dirty="0">
                  <a:latin typeface="Franklin Gothic Book" panose="020B0503020102020204" pitchFamily="34" charset="0"/>
                </a:rPr>
                <a:t>, Yoon, Knutson (J Neuro)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C412F31-58FD-E532-019E-2D8ECF5ACC7B}"/>
              </a:ext>
            </a:extLst>
          </p:cNvPr>
          <p:cNvGrpSpPr/>
          <p:nvPr/>
        </p:nvGrpSpPr>
        <p:grpSpPr>
          <a:xfrm>
            <a:off x="6998698" y="1776069"/>
            <a:ext cx="1525226" cy="1440131"/>
            <a:chOff x="6998698" y="1776069"/>
            <a:chExt cx="1525226" cy="1440131"/>
          </a:xfrm>
        </p:grpSpPr>
        <p:pic>
          <p:nvPicPr>
            <p:cNvPr id="1044" name="Picture 20" descr="YouTube | Google for Developers">
              <a:extLst>
                <a:ext uri="{FF2B5EF4-FFF2-40B4-BE49-F238E27FC236}">
                  <a16:creationId xmlns:a16="http://schemas.microsoft.com/office/drawing/2014/main" id="{F47668E1-7946-086A-453C-FCC0E83AA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6661" y="1776069"/>
              <a:ext cx="1364945" cy="94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E3B78BA-E0AA-A196-0740-2875BCB04F02}"/>
                </a:ext>
              </a:extLst>
            </p:cNvPr>
            <p:cNvSpPr txBox="1"/>
            <p:nvPr/>
          </p:nvSpPr>
          <p:spPr>
            <a:xfrm>
              <a:off x="6998698" y="2732890"/>
              <a:ext cx="15252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Tong et al. (PNAS)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1464B97-6EC3-6D5C-A826-8C219F335F62}"/>
                </a:ext>
              </a:extLst>
            </p:cNvPr>
            <p:cNvCxnSpPr>
              <a:cxnSpLocks/>
            </p:cNvCxnSpPr>
            <p:nvPr/>
          </p:nvCxnSpPr>
          <p:spPr>
            <a:xfrm>
              <a:off x="7696952" y="3051381"/>
              <a:ext cx="0" cy="164819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6E90B2C-4588-9971-5AD5-275E0A538070}"/>
              </a:ext>
            </a:extLst>
          </p:cNvPr>
          <p:cNvGrpSpPr/>
          <p:nvPr/>
        </p:nvGrpSpPr>
        <p:grpSpPr>
          <a:xfrm>
            <a:off x="4054101" y="158266"/>
            <a:ext cx="4831435" cy="1362749"/>
            <a:chOff x="4054101" y="158266"/>
            <a:chExt cx="4831435" cy="1362749"/>
          </a:xfrm>
        </p:grpSpPr>
        <p:pic>
          <p:nvPicPr>
            <p:cNvPr id="1050" name="Picture 26" descr="Movie Ticket Stock Illustrations – 36,843 Movie Ticket Stock Illustrations,  Vectors &amp; Clipart - Dreamstime">
              <a:extLst>
                <a:ext uri="{FF2B5EF4-FFF2-40B4-BE49-F238E27FC236}">
                  <a16:creationId xmlns:a16="http://schemas.microsoft.com/office/drawing/2014/main" id="{4207645E-C5F3-49FD-0967-278C9BDCD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4101" y="241879"/>
              <a:ext cx="1798789" cy="982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2" name="Picture 28">
              <a:extLst>
                <a:ext uri="{FF2B5EF4-FFF2-40B4-BE49-F238E27FC236}">
                  <a16:creationId xmlns:a16="http://schemas.microsoft.com/office/drawing/2014/main" id="{BADBE455-98A8-58B4-8B56-219EAF7C6C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9371" y="241124"/>
              <a:ext cx="1133037" cy="932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" name="Picture 30" descr="Edeka - Wikipedia">
              <a:extLst>
                <a:ext uri="{FF2B5EF4-FFF2-40B4-BE49-F238E27FC236}">
                  <a16:creationId xmlns:a16="http://schemas.microsoft.com/office/drawing/2014/main" id="{B5E1D282-21F2-A566-BB20-27EFD2805B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1547" y="158266"/>
              <a:ext cx="620603" cy="750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Graphic 40" descr="Shopping basket with solid fill">
              <a:extLst>
                <a:ext uri="{FF2B5EF4-FFF2-40B4-BE49-F238E27FC236}">
                  <a16:creationId xmlns:a16="http://schemas.microsoft.com/office/drawing/2014/main" id="{E46BDEB2-336C-B84E-594B-0AA988D8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193945" y="829424"/>
              <a:ext cx="691591" cy="691591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47E9910-DDDD-49BA-0FE5-EA59A2F7388C}"/>
              </a:ext>
            </a:extLst>
          </p:cNvPr>
          <p:cNvGrpSpPr/>
          <p:nvPr/>
        </p:nvGrpSpPr>
        <p:grpSpPr>
          <a:xfrm>
            <a:off x="10408640" y="67776"/>
            <a:ext cx="1783360" cy="3165991"/>
            <a:chOff x="10408640" y="67776"/>
            <a:chExt cx="1783360" cy="3165991"/>
          </a:xfrm>
        </p:grpSpPr>
        <p:pic>
          <p:nvPicPr>
            <p:cNvPr id="1046" name="Picture 22" descr="Instagram - Wikipedia">
              <a:extLst>
                <a:ext uri="{FF2B5EF4-FFF2-40B4-BE49-F238E27FC236}">
                  <a16:creationId xmlns:a16="http://schemas.microsoft.com/office/drawing/2014/main" id="{6E0474DB-1F55-81B5-872B-CE496B19F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7844" y="1642545"/>
              <a:ext cx="948865" cy="948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9A8710-C555-7A0B-B2F9-5A669EBFDC23}"/>
                </a:ext>
              </a:extLst>
            </p:cNvPr>
            <p:cNvSpPr txBox="1"/>
            <p:nvPr/>
          </p:nvSpPr>
          <p:spPr>
            <a:xfrm>
              <a:off x="10472555" y="2573399"/>
              <a:ext cx="17194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Srirangarajan</a:t>
              </a:r>
              <a:r>
                <a:rPr lang="en-US" sz="1400" dirty="0">
                  <a:latin typeface="Franklin Gothic Book" panose="020B0503020102020204" pitchFamily="34" charset="0"/>
                </a:rPr>
                <a:t> et al.?</a:t>
              </a:r>
            </a:p>
          </p:txBody>
        </p:sp>
        <p:pic>
          <p:nvPicPr>
            <p:cNvPr id="1058" name="Picture 34" descr="Emblem | Exclusive Product Stories | Toyota Brand | Mobility | Toyota Motor  Corporation Official Global Website">
              <a:extLst>
                <a:ext uri="{FF2B5EF4-FFF2-40B4-BE49-F238E27FC236}">
                  <a16:creationId xmlns:a16="http://schemas.microsoft.com/office/drawing/2014/main" id="{BE380B53-1CA7-2443-D9B3-0CA0A191AB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34" t="21119" r="29384" b="21981"/>
            <a:stretch/>
          </p:blipFill>
          <p:spPr bwMode="auto">
            <a:xfrm>
              <a:off x="10408640" y="67776"/>
              <a:ext cx="1711106" cy="1180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F81809F-0DFF-3DF4-D017-20FD59738131}"/>
                </a:ext>
              </a:extLst>
            </p:cNvPr>
            <p:cNvCxnSpPr>
              <a:cxnSpLocks/>
            </p:cNvCxnSpPr>
            <p:nvPr/>
          </p:nvCxnSpPr>
          <p:spPr>
            <a:xfrm>
              <a:off x="11651966" y="2915059"/>
              <a:ext cx="0" cy="318708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30199E4-2131-7378-21FA-EDC2B6EB4C32}"/>
                </a:ext>
              </a:extLst>
            </p:cNvPr>
            <p:cNvSpPr txBox="1"/>
            <p:nvPr/>
          </p:nvSpPr>
          <p:spPr>
            <a:xfrm>
              <a:off x="10659987" y="1226211"/>
              <a:ext cx="14597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Christiano</a:t>
              </a:r>
              <a:r>
                <a:rPr lang="en-US" sz="1400" dirty="0">
                  <a:latin typeface="Franklin Gothic Book" panose="020B0503020102020204" pitchFamily="34" charset="0"/>
                </a:rPr>
                <a:t> et al.?</a:t>
              </a:r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B5B64A2D-E19E-681A-94DE-A8B29A0D13E3}"/>
              </a:ext>
            </a:extLst>
          </p:cNvPr>
          <p:cNvGrpSpPr/>
          <p:nvPr/>
        </p:nvGrpSpPr>
        <p:grpSpPr>
          <a:xfrm>
            <a:off x="8103325" y="3613665"/>
            <a:ext cx="2111219" cy="2218233"/>
            <a:chOff x="8103325" y="3613665"/>
            <a:chExt cx="2111219" cy="2218233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4348F8B-0F31-86D0-6CDF-42245D86B631}"/>
                </a:ext>
              </a:extLst>
            </p:cNvPr>
            <p:cNvCxnSpPr>
              <a:cxnSpLocks/>
            </p:cNvCxnSpPr>
            <p:nvPr/>
          </p:nvCxnSpPr>
          <p:spPr>
            <a:xfrm>
              <a:off x="9984314" y="3613665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Picture 61" descr="A black truck on a white background&#10;&#10;Description automatically generated">
              <a:extLst>
                <a:ext uri="{FF2B5EF4-FFF2-40B4-BE49-F238E27FC236}">
                  <a16:creationId xmlns:a16="http://schemas.microsoft.com/office/drawing/2014/main" id="{B2C64BC5-F163-078B-27D0-0C9A632AD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229586" y="3870163"/>
              <a:ext cx="1861005" cy="820601"/>
            </a:xfrm>
            <a:prstGeom prst="rect">
              <a:avLst/>
            </a:prstGeom>
          </p:spPr>
        </p:pic>
        <p:pic>
          <p:nvPicPr>
            <p:cNvPr id="1024" name="Picture 1023" descr="A black car on a white background&#10;&#10;Description automatically generated">
              <a:extLst>
                <a:ext uri="{FF2B5EF4-FFF2-40B4-BE49-F238E27FC236}">
                  <a16:creationId xmlns:a16="http://schemas.microsoft.com/office/drawing/2014/main" id="{066ECC93-FDD5-AFC9-DA26-187915E6B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229587" y="4656951"/>
              <a:ext cx="1861004" cy="820600"/>
            </a:xfrm>
            <a:prstGeom prst="rect">
              <a:avLst/>
            </a:prstGeom>
          </p:spPr>
        </p:pic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4731938-E4AD-6ADB-724D-E5EEEECE60AE}"/>
                </a:ext>
              </a:extLst>
            </p:cNvPr>
            <p:cNvSpPr txBox="1"/>
            <p:nvPr/>
          </p:nvSpPr>
          <p:spPr>
            <a:xfrm>
              <a:off x="8103325" y="5524121"/>
              <a:ext cx="2111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Burnap</a:t>
              </a:r>
              <a:r>
                <a:rPr lang="en-US" sz="1400" dirty="0">
                  <a:latin typeface="Franklin Gothic Book" panose="020B0503020102020204" pitchFamily="34" charset="0"/>
                </a:rPr>
                <a:t> et al. (Market Sci)</a:t>
              </a:r>
            </a:p>
          </p:txBody>
        </p:sp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930806E6-07B3-8D3E-7208-1E62CC9AD2B8}"/>
              </a:ext>
            </a:extLst>
          </p:cNvPr>
          <p:cNvGrpSpPr/>
          <p:nvPr/>
        </p:nvGrpSpPr>
        <p:grpSpPr>
          <a:xfrm>
            <a:off x="9944982" y="3557718"/>
            <a:ext cx="2351156" cy="2941119"/>
            <a:chOff x="9944982" y="3557718"/>
            <a:chExt cx="2351156" cy="2941119"/>
          </a:xfrm>
        </p:grpSpPr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17EE698-146F-9006-24AE-A992A47517B5}"/>
                </a:ext>
              </a:extLst>
            </p:cNvPr>
            <p:cNvCxnSpPr>
              <a:cxnSpLocks/>
            </p:cNvCxnSpPr>
            <p:nvPr/>
          </p:nvCxnSpPr>
          <p:spPr>
            <a:xfrm>
              <a:off x="11143710" y="3557718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9DD00E58-7417-9578-B086-E0ADC6AADAF5}"/>
                </a:ext>
              </a:extLst>
            </p:cNvPr>
            <p:cNvSpPr txBox="1"/>
            <p:nvPr/>
          </p:nvSpPr>
          <p:spPr>
            <a:xfrm>
              <a:off x="10343817" y="6191060"/>
              <a:ext cx="16296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Sisodia et al. (JMR)</a:t>
              </a:r>
            </a:p>
          </p:txBody>
        </p:sp>
        <p:pic>
          <p:nvPicPr>
            <p:cNvPr id="1038" name="Picture 1037" descr="A close-up of a person&#10;&#10;Description automatically generated">
              <a:extLst>
                <a:ext uri="{FF2B5EF4-FFF2-40B4-BE49-F238E27FC236}">
                  <a16:creationId xmlns:a16="http://schemas.microsoft.com/office/drawing/2014/main" id="{D9BFB98C-8451-E272-B419-5B83FBE67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225358" y="3870038"/>
              <a:ext cx="952500" cy="1130300"/>
            </a:xfrm>
            <a:prstGeom prst="rect">
              <a:avLst/>
            </a:prstGeom>
          </p:spPr>
        </p:pic>
        <p:pic>
          <p:nvPicPr>
            <p:cNvPr id="1043" name="Picture 1042" descr="A close-up of a person&#10;&#10;Description automatically generated">
              <a:extLst>
                <a:ext uri="{FF2B5EF4-FFF2-40B4-BE49-F238E27FC236}">
                  <a16:creationId xmlns:a16="http://schemas.microsoft.com/office/drawing/2014/main" id="{43FCD9E0-17FD-651B-6EF0-A098EDBEF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100603" y="3871243"/>
              <a:ext cx="952500" cy="1130300"/>
            </a:xfrm>
            <a:prstGeom prst="rect">
              <a:avLst/>
            </a:prstGeom>
          </p:spPr>
        </p:pic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96D13BCA-F4C2-FB3A-7B2E-8CBF57B05E01}"/>
                </a:ext>
              </a:extLst>
            </p:cNvPr>
            <p:cNvSpPr txBox="1"/>
            <p:nvPr/>
          </p:nvSpPr>
          <p:spPr>
            <a:xfrm>
              <a:off x="9944982" y="4961125"/>
              <a:ext cx="23511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Ludwig &amp; Mullainathan (QJE)</a:t>
              </a:r>
            </a:p>
          </p:txBody>
        </p:sp>
        <p:pic>
          <p:nvPicPr>
            <p:cNvPr id="1049" name="Picture 1048" descr="A cat sitting in a circle&#10;&#10;Description automatically generated with medium confidence">
              <a:extLst>
                <a:ext uri="{FF2B5EF4-FFF2-40B4-BE49-F238E27FC236}">
                  <a16:creationId xmlns:a16="http://schemas.microsoft.com/office/drawing/2014/main" id="{4AC47AA1-AE17-D6E4-B5A6-C9DD72DB6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472555" y="5313716"/>
              <a:ext cx="1187010" cy="879267"/>
            </a:xfrm>
            <a:prstGeom prst="rect">
              <a:avLst/>
            </a:prstGeom>
          </p:spPr>
        </p:pic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DDD26CD7-D4ED-AD19-2571-BD8B0346D99D}"/>
              </a:ext>
            </a:extLst>
          </p:cNvPr>
          <p:cNvGrpSpPr/>
          <p:nvPr/>
        </p:nvGrpSpPr>
        <p:grpSpPr>
          <a:xfrm>
            <a:off x="2948562" y="3587907"/>
            <a:ext cx="2414780" cy="2679328"/>
            <a:chOff x="2948562" y="3587907"/>
            <a:chExt cx="2414780" cy="2679328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69FE925-23CE-43F7-DB83-74788927D7C0}"/>
                </a:ext>
              </a:extLst>
            </p:cNvPr>
            <p:cNvCxnSpPr>
              <a:cxnSpLocks/>
            </p:cNvCxnSpPr>
            <p:nvPr/>
          </p:nvCxnSpPr>
          <p:spPr>
            <a:xfrm>
              <a:off x="4217126" y="3587907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60" name="Picture 36" descr="2006 Toyota Camry LE at Gold Rush Auto Sales - Research - GrooveCar">
              <a:extLst>
                <a:ext uri="{FF2B5EF4-FFF2-40B4-BE49-F238E27FC236}">
                  <a16:creationId xmlns:a16="http://schemas.microsoft.com/office/drawing/2014/main" id="{974B837D-D6CC-D302-16FA-484155549A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999" b="28945"/>
            <a:stretch/>
          </p:blipFill>
          <p:spPr bwMode="auto">
            <a:xfrm>
              <a:off x="2948562" y="3912428"/>
              <a:ext cx="2317951" cy="71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E2E621C-2F88-1F59-95D8-8FCA405E04C3}"/>
                </a:ext>
              </a:extLst>
            </p:cNvPr>
            <p:cNvSpPr txBox="1"/>
            <p:nvPr/>
          </p:nvSpPr>
          <p:spPr>
            <a:xfrm>
              <a:off x="3188644" y="5959458"/>
              <a:ext cx="21746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 err="1">
                  <a:latin typeface="Franklin Gothic Book" panose="020B0503020102020204" pitchFamily="34" charset="0"/>
                </a:rPr>
                <a:t>Burnap</a:t>
              </a:r>
              <a:r>
                <a:rPr lang="en-US" sz="1400" dirty="0">
                  <a:latin typeface="Franklin Gothic Book" panose="020B0503020102020204" pitchFamily="34" charset="0"/>
                </a:rPr>
                <a:t> et al. (J Mech Des)</a:t>
              </a:r>
            </a:p>
          </p:txBody>
        </p:sp>
        <p:pic>
          <p:nvPicPr>
            <p:cNvPr id="1059" name="Picture 1058" descr="A diagram of a graph&#10;&#10;Description automatically generated">
              <a:extLst>
                <a:ext uri="{FF2B5EF4-FFF2-40B4-BE49-F238E27FC236}">
                  <a16:creationId xmlns:a16="http://schemas.microsoft.com/office/drawing/2014/main" id="{84AC331F-7CD7-08C2-4B5C-28D36901D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08954" y="4673219"/>
              <a:ext cx="1416343" cy="1311912"/>
            </a:xfrm>
            <a:prstGeom prst="rect">
              <a:avLst/>
            </a:prstGeom>
          </p:spPr>
        </p:pic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48CE332B-22F0-38E3-2C5E-059A61262A6C}"/>
              </a:ext>
            </a:extLst>
          </p:cNvPr>
          <p:cNvGrpSpPr/>
          <p:nvPr/>
        </p:nvGrpSpPr>
        <p:grpSpPr>
          <a:xfrm>
            <a:off x="5257683" y="3564842"/>
            <a:ext cx="2589940" cy="1743273"/>
            <a:chOff x="5257683" y="3564842"/>
            <a:chExt cx="2589940" cy="1743273"/>
          </a:xfrm>
        </p:grpSpPr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6399C222-30F9-E69F-F29A-6D223EC878F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564842"/>
              <a:ext cx="0" cy="262857"/>
            </a:xfrm>
            <a:prstGeom prst="line">
              <a:avLst/>
            </a:prstGeom>
            <a:ln w="57150">
              <a:solidFill>
                <a:srgbClr val="1560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66" name="Picture 1065" descr="A person smiling at the camera&#10;&#10;Description automatically generated">
              <a:extLst>
                <a:ext uri="{FF2B5EF4-FFF2-40B4-BE49-F238E27FC236}">
                  <a16:creationId xmlns:a16="http://schemas.microsoft.com/office/drawing/2014/main" id="{15216810-807D-E591-89F8-6AF341F7E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586897" y="3866537"/>
              <a:ext cx="806451" cy="1137302"/>
            </a:xfrm>
            <a:prstGeom prst="rect">
              <a:avLst/>
            </a:prstGeom>
          </p:spPr>
        </p:pic>
        <p:pic>
          <p:nvPicPr>
            <p:cNvPr id="1064" name="Picture 1063" descr="A close-up of a person smiling&#10;&#10;Description automatically generated">
              <a:extLst>
                <a:ext uri="{FF2B5EF4-FFF2-40B4-BE49-F238E27FC236}">
                  <a16:creationId xmlns:a16="http://schemas.microsoft.com/office/drawing/2014/main" id="{FAADA37D-E541-4266-340A-828F2C52D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780447" y="3866537"/>
              <a:ext cx="806450" cy="1137302"/>
            </a:xfrm>
            <a:prstGeom prst="rect">
              <a:avLst/>
            </a:prstGeom>
          </p:spPr>
        </p:pic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66E6A782-9305-4F79-DC0E-6418C6E19CFE}"/>
                </a:ext>
              </a:extLst>
            </p:cNvPr>
            <p:cNvSpPr txBox="1"/>
            <p:nvPr/>
          </p:nvSpPr>
          <p:spPr>
            <a:xfrm>
              <a:off x="5257683" y="5000338"/>
              <a:ext cx="2589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400" dirty="0">
                  <a:latin typeface="Franklin Gothic Book" panose="020B0503020102020204" pitchFamily="34" charset="0"/>
                </a:rPr>
                <a:t>Lin, </a:t>
              </a:r>
              <a:r>
                <a:rPr lang="en-US" sz="1400" dirty="0" err="1">
                  <a:latin typeface="Franklin Gothic Book" panose="020B0503020102020204" pitchFamily="34" charset="0"/>
                </a:rPr>
                <a:t>Adolphs</a:t>
              </a:r>
              <a:r>
                <a:rPr lang="en-US" sz="1400" dirty="0">
                  <a:latin typeface="Franklin Gothic Book" panose="020B0503020102020204" pitchFamily="34" charset="0"/>
                </a:rPr>
                <a:t>, Alvarez (Psych Sci)</a:t>
              </a: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CE4E5C-54C4-761A-D34B-764031B5B5A4}"/>
              </a:ext>
            </a:extLst>
          </p:cNvPr>
          <p:cNvSpPr/>
          <p:nvPr/>
        </p:nvSpPr>
        <p:spPr>
          <a:xfrm>
            <a:off x="747483" y="1239623"/>
            <a:ext cx="10697034" cy="1044208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tx1"/>
                </a:solidFill>
              </a:rPr>
              <a:t>NAcc</a:t>
            </a:r>
            <a:r>
              <a:rPr lang="en-US" sz="3200" b="1" dirty="0">
                <a:solidFill>
                  <a:schemeClr val="tx1"/>
                </a:solidFill>
              </a:rPr>
              <a:t> activity linked to out-of-sample market outcomes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B21F71-D19C-5E76-C314-D11566752F9A}"/>
              </a:ext>
            </a:extLst>
          </p:cNvPr>
          <p:cNvSpPr/>
          <p:nvPr/>
        </p:nvSpPr>
        <p:spPr>
          <a:xfrm>
            <a:off x="747483" y="4376938"/>
            <a:ext cx="10697034" cy="1044208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 method for linking visual features to </a:t>
            </a:r>
            <a:r>
              <a:rPr lang="en-US" sz="3200" b="1" dirty="0" err="1">
                <a:solidFill>
                  <a:schemeClr val="tx1"/>
                </a:solidFill>
              </a:rPr>
              <a:t>NAcc</a:t>
            </a:r>
            <a:r>
              <a:rPr lang="en-US" sz="3200" b="1" dirty="0">
                <a:solidFill>
                  <a:schemeClr val="tx1"/>
                </a:solidFill>
              </a:rPr>
              <a:t> activity</a:t>
            </a:r>
          </a:p>
        </p:txBody>
      </p:sp>
    </p:spTree>
    <p:extLst>
      <p:ext uri="{BB962C8B-B14F-4D97-AF65-F5344CB8AC3E}">
        <p14:creationId xmlns:p14="http://schemas.microsoft.com/office/powerpoint/2010/main" val="13338206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B6E7-7315-1112-EB09-8012135E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</a:t>
            </a:r>
            <a:r>
              <a:rPr lang="en-US" dirty="0" err="1"/>
              <a:t>NAcc</a:t>
            </a:r>
            <a:r>
              <a:rPr lang="en-US" dirty="0"/>
              <a:t> activity contain signal about market-level outcomes?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5732-1FE8-CD10-620A-D982F63FD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65402"/>
            <a:ext cx="6096000" cy="40682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Affect-Integration-Motivation</a:t>
            </a:r>
            <a:r>
              <a:rPr lang="en-US" dirty="0"/>
              <a:t> </a:t>
            </a:r>
            <a:r>
              <a:rPr lang="en-US" b="1" dirty="0"/>
              <a:t>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0EEB3-D505-14D5-54CB-E5A07C535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53D4F87-9C42-233E-881D-BAB166F139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53" r="7602"/>
          <a:stretch/>
        </p:blipFill>
        <p:spPr>
          <a:xfrm>
            <a:off x="419692" y="2417113"/>
            <a:ext cx="5254906" cy="2764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2429DB-B782-19BE-28C6-DC998F8C6B9E}"/>
              </a:ext>
            </a:extLst>
          </p:cNvPr>
          <p:cNvSpPr txBox="1"/>
          <p:nvPr/>
        </p:nvSpPr>
        <p:spPr>
          <a:xfrm>
            <a:off x="1493136" y="6139860"/>
            <a:ext cx="1074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Franklin Gothic Book" panose="020B0503020102020204" pitchFamily="34" charset="0"/>
              </a:rPr>
              <a:t>Knutson &amp; </a:t>
            </a:r>
            <a:r>
              <a:rPr lang="en-US" dirty="0" err="1">
                <a:latin typeface="Franklin Gothic Book" panose="020B0503020102020204" pitchFamily="34" charset="0"/>
              </a:rPr>
              <a:t>Genevsky</a:t>
            </a:r>
            <a:r>
              <a:rPr lang="en-US" dirty="0">
                <a:latin typeface="Franklin Gothic Book" panose="020B0503020102020204" pitchFamily="34" charset="0"/>
              </a:rPr>
              <a:t> (2018, Cur Dir Psych Sci); </a:t>
            </a:r>
            <a:r>
              <a:rPr lang="en-US" dirty="0" err="1">
                <a:latin typeface="Franklin Gothic Book" panose="020B0503020102020204" pitchFamily="34" charset="0"/>
              </a:rPr>
              <a:t>Genevsky</a:t>
            </a:r>
            <a:r>
              <a:rPr lang="en-US" dirty="0">
                <a:latin typeface="Franklin Gothic Book" panose="020B0503020102020204" pitchFamily="34" charset="0"/>
              </a:rPr>
              <a:t>, Tong, Knutson (2025, PNAS Nexus)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4965AE8-E755-F4B4-E895-0831E8B52D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4288" y="1765401"/>
                <a:ext cx="6097711" cy="40682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Vulf Sans" pitchFamily="2" charset="77"/>
                    <a:cs typeface="Futura Medium" panose="020B0602020204020303" pitchFamily="34" charset="-79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Vulf Sans" pitchFamily="2" charset="77"/>
                    <a:cs typeface="Futura Medium" panose="020B0602020204020303" pitchFamily="34" charset="-79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Vulf Sans" pitchFamily="2" charset="77"/>
                    <a:cs typeface="Futura Medium" panose="020B0602020204020303" pitchFamily="34" charset="-79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Vulf Sans" pitchFamily="2" charset="77"/>
                    <a:cs typeface="Futura Medium" panose="020B0602020204020303" pitchFamily="34" charset="-79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Vulf Sans" pitchFamily="2" charset="77"/>
                    <a:cs typeface="Futura Medium" panose="020B0602020204020303" pitchFamily="34" charset="-79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dirty="0"/>
                  <a:t>Two-Component Utility</a:t>
                </a:r>
                <a:endParaRPr lang="en-US" dirty="0">
                  <a:sym typeface="Wingdings" pitchFamily="2" charset="2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ym typeface="Wingdings" pitchFamily="2" charset="2"/>
                  </a:rPr>
                  <a:t>Affect </a:t>
                </a:r>
                <a:r>
                  <a:rPr lang="en-US" dirty="0"/>
                  <a:t>⟷ </a:t>
                </a:r>
                <a:r>
                  <a:rPr lang="en-US" dirty="0">
                    <a:sym typeface="Wingdings" pitchFamily="2" charset="2"/>
                  </a:rPr>
                  <a:t>Aggregate </a:t>
                </a:r>
              </a:p>
              <a:p>
                <a:pPr marL="0" indent="0" algn="ctr">
                  <a:buNone/>
                </a:pPr>
                <a:r>
                  <a:rPr lang="en-US" dirty="0">
                    <a:sym typeface="Wingdings" pitchFamily="2" charset="2"/>
                  </a:rPr>
                  <a:t>Integration </a:t>
                </a:r>
                <a:r>
                  <a:rPr lang="en-US" dirty="0"/>
                  <a:t>⟷ </a:t>
                </a:r>
                <a:r>
                  <a:rPr lang="en-US" dirty="0">
                    <a:sym typeface="Wingdings" pitchFamily="2" charset="2"/>
                  </a:rPr>
                  <a:t>Individual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4965AE8-E755-F4B4-E895-0831E8B52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288" y="1765401"/>
                <a:ext cx="6097711" cy="4068242"/>
              </a:xfrm>
              <a:prstGeom prst="rect">
                <a:avLst/>
              </a:prstGeom>
              <a:blipFill>
                <a:blip r:embed="rId3"/>
                <a:stretch>
                  <a:fillRect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11D73F-1180-BE70-7512-C57419ED4E4E}"/>
              </a:ext>
            </a:extLst>
          </p:cNvPr>
          <p:cNvSpPr/>
          <p:nvPr/>
        </p:nvSpPr>
        <p:spPr>
          <a:xfrm>
            <a:off x="4236334" y="4689782"/>
            <a:ext cx="7697321" cy="1236455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What visual features might be influencing the aggregate component?</a:t>
            </a:r>
          </a:p>
        </p:txBody>
      </p:sp>
    </p:spTree>
    <p:extLst>
      <p:ext uri="{BB962C8B-B14F-4D97-AF65-F5344CB8AC3E}">
        <p14:creationId xmlns:p14="http://schemas.microsoft.com/office/powerpoint/2010/main" val="34948360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B0AF-6FB4-201A-EA46-FDEB18F4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Variational autoencoders for feature discovery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7A783-6561-BE3B-0EEF-BB629C6E0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152" name="Picture 8" descr="The structure of a deep autoencoder with encoder, decoder and the code... |  Download Scientific Diagram">
            <a:extLst>
              <a:ext uri="{FF2B5EF4-FFF2-40B4-BE49-F238E27FC236}">
                <a16:creationId xmlns:a16="http://schemas.microsoft.com/office/drawing/2014/main" id="{F9EB548E-DADB-0A65-C94D-1B9968DAD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565" y="1423685"/>
            <a:ext cx="9196248" cy="292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An Introduction to Linear Algebra - Owlcation">
            <a:extLst>
              <a:ext uri="{FF2B5EF4-FFF2-40B4-BE49-F238E27FC236}">
                <a16:creationId xmlns:a16="http://schemas.microsoft.com/office/drawing/2014/main" id="{7BBBE82E-0748-533F-723B-103EC589F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5891514" y="4531461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CD6B2B-6F0B-E3B4-41F0-32DB7D6536E6}"/>
              </a:ext>
            </a:extLst>
          </p:cNvPr>
          <p:cNvCxnSpPr>
            <a:cxnSpLocks/>
          </p:cNvCxnSpPr>
          <p:nvPr/>
        </p:nvCxnSpPr>
        <p:spPr>
          <a:xfrm>
            <a:off x="6099032" y="3456992"/>
            <a:ext cx="0" cy="1473823"/>
          </a:xfrm>
          <a:prstGeom prst="straightConnector1">
            <a:avLst/>
          </a:prstGeom>
          <a:ln w="38100">
            <a:solidFill>
              <a:srgbClr val="2DCBF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62A78C-90E3-3E19-F0CE-DDCDDD5BCE1E}"/>
              </a:ext>
            </a:extLst>
          </p:cNvPr>
          <p:cNvSpPr/>
          <p:nvPr/>
        </p:nvSpPr>
        <p:spPr>
          <a:xfrm>
            <a:off x="274604" y="5023814"/>
            <a:ext cx="5439015" cy="675144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“learned features important for drawing vehicles”</a:t>
            </a:r>
          </a:p>
        </p:txBody>
      </p:sp>
    </p:spTree>
    <p:extLst>
      <p:ext uri="{BB962C8B-B14F-4D97-AF65-F5344CB8AC3E}">
        <p14:creationId xmlns:p14="http://schemas.microsoft.com/office/powerpoint/2010/main" val="32836392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79F06-3649-0A7A-02A6-87C71C43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31E3-174E-6CFA-4587-7F3E62C2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Variational autoencoders for feature discovery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F8ACA-9957-7E21-7F94-A9943015F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152" name="Picture 8" descr="The structure of a deep autoencoder with encoder, decoder and the code... |  Download Scientific Diagram">
            <a:extLst>
              <a:ext uri="{FF2B5EF4-FFF2-40B4-BE49-F238E27FC236}">
                <a16:creationId xmlns:a16="http://schemas.microsoft.com/office/drawing/2014/main" id="{B9D3AE6E-DE11-2F60-2D3E-4D4FC769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565" y="1423685"/>
            <a:ext cx="9196248" cy="292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An Introduction to Linear Algebra - Owlcation">
            <a:extLst>
              <a:ext uri="{FF2B5EF4-FFF2-40B4-BE49-F238E27FC236}">
                <a16:creationId xmlns:a16="http://schemas.microsoft.com/office/drawing/2014/main" id="{D6F0BE65-12DF-A5C3-0CF0-A8A136CF3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5891514" y="4531461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A1C4A1-984C-4A5D-4AB3-168DB30D1EFC}"/>
              </a:ext>
            </a:extLst>
          </p:cNvPr>
          <p:cNvCxnSpPr>
            <a:cxnSpLocks/>
          </p:cNvCxnSpPr>
          <p:nvPr/>
        </p:nvCxnSpPr>
        <p:spPr>
          <a:xfrm>
            <a:off x="6099032" y="3456992"/>
            <a:ext cx="0" cy="1473823"/>
          </a:xfrm>
          <a:prstGeom prst="straightConnector1">
            <a:avLst/>
          </a:prstGeom>
          <a:ln w="38100">
            <a:solidFill>
              <a:srgbClr val="2DCBF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B58EE2-9263-4FD9-73F8-8EB4FFA88F1D}"/>
              </a:ext>
            </a:extLst>
          </p:cNvPr>
          <p:cNvSpPr/>
          <p:nvPr/>
        </p:nvSpPr>
        <p:spPr>
          <a:xfrm>
            <a:off x="274604" y="5023814"/>
            <a:ext cx="5439015" cy="675144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“learned features important for drawing vehicles”</a:t>
            </a:r>
          </a:p>
        </p:txBody>
      </p:sp>
      <p:pic>
        <p:nvPicPr>
          <p:cNvPr id="3" name="Picture 2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48F3BC96-B23D-3BE4-647D-AFA94F9FE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179" y="4812300"/>
            <a:ext cx="3466875" cy="1560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E3D186-5578-7D7C-D7C3-1B632D81E60D}"/>
              </a:ext>
            </a:extLst>
          </p:cNvPr>
          <p:cNvSpPr txBox="1"/>
          <p:nvPr/>
        </p:nvSpPr>
        <p:spPr>
          <a:xfrm>
            <a:off x="7871202" y="4473746"/>
            <a:ext cx="407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Franklin Gothic Book" panose="020B0503020102020204" pitchFamily="34" charset="0"/>
              </a:rPr>
              <a:t>architecture to encourage “disentanglement”</a:t>
            </a:r>
          </a:p>
        </p:txBody>
      </p:sp>
    </p:spTree>
    <p:extLst>
      <p:ext uri="{BB962C8B-B14F-4D97-AF65-F5344CB8AC3E}">
        <p14:creationId xmlns:p14="http://schemas.microsoft.com/office/powerpoint/2010/main" val="13191204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B0BC-DDE1-FB85-1A20-A6D6E313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6CD9-3045-2CB3-8D68-4A55DFBA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Variational autoencoders for feature discovery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090DD-98CC-CF08-6925-805D50CF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152" name="Picture 8" descr="The structure of a deep autoencoder with encoder, decoder and the code... |  Download Scientific Diagram">
            <a:extLst>
              <a:ext uri="{FF2B5EF4-FFF2-40B4-BE49-F238E27FC236}">
                <a16:creationId xmlns:a16="http://schemas.microsoft.com/office/drawing/2014/main" id="{F7054C76-498F-0E16-4962-DD3BA4C54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565" y="1423685"/>
            <a:ext cx="9196248" cy="292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An Introduction to Linear Algebra - Owlcation">
            <a:extLst>
              <a:ext uri="{FF2B5EF4-FFF2-40B4-BE49-F238E27FC236}">
                <a16:creationId xmlns:a16="http://schemas.microsoft.com/office/drawing/2014/main" id="{259E932D-97D6-7B4C-CAFB-68C2570F7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5891514" y="4531461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FE6145-9450-0A89-E597-3C8F5605AB64}"/>
              </a:ext>
            </a:extLst>
          </p:cNvPr>
          <p:cNvCxnSpPr>
            <a:cxnSpLocks/>
          </p:cNvCxnSpPr>
          <p:nvPr/>
        </p:nvCxnSpPr>
        <p:spPr>
          <a:xfrm>
            <a:off x="6099032" y="3456992"/>
            <a:ext cx="0" cy="1473823"/>
          </a:xfrm>
          <a:prstGeom prst="straightConnector1">
            <a:avLst/>
          </a:prstGeom>
          <a:ln w="38100">
            <a:solidFill>
              <a:srgbClr val="2DCBF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2E982B-5C30-2CEF-BB9F-675C822F6B63}"/>
              </a:ext>
            </a:extLst>
          </p:cNvPr>
          <p:cNvSpPr/>
          <p:nvPr/>
        </p:nvSpPr>
        <p:spPr>
          <a:xfrm>
            <a:off x="274604" y="5023814"/>
            <a:ext cx="5439015" cy="675144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“learned features important for drawing vehicles”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27BF93-E085-CB9D-5C5D-9E585E339497}"/>
              </a:ext>
            </a:extLst>
          </p:cNvPr>
          <p:cNvSpPr txBox="1"/>
          <p:nvPr/>
        </p:nvSpPr>
        <p:spPr>
          <a:xfrm>
            <a:off x="7707491" y="4615474"/>
            <a:ext cx="171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Hood Curvature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6ED9EC-A58D-A00C-7518-E88CF886E00C}"/>
              </a:ext>
            </a:extLst>
          </p:cNvPr>
          <p:cNvSpPr txBox="1"/>
          <p:nvPr/>
        </p:nvSpPr>
        <p:spPr>
          <a:xfrm>
            <a:off x="7707491" y="5211044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Grill Shape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79918-0621-78C8-B3D4-354FB875179C}"/>
              </a:ext>
            </a:extLst>
          </p:cNvPr>
          <p:cNvSpPr txBox="1"/>
          <p:nvPr/>
        </p:nvSpPr>
        <p:spPr>
          <a:xfrm>
            <a:off x="7704882" y="5806614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Headlight Slant</a:t>
            </a:r>
          </a:p>
        </p:txBody>
      </p:sp>
    </p:spTree>
    <p:extLst>
      <p:ext uri="{BB962C8B-B14F-4D97-AF65-F5344CB8AC3E}">
        <p14:creationId xmlns:p14="http://schemas.microsoft.com/office/powerpoint/2010/main" val="30881717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28C7-3091-38EF-28EE-17FF1598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Latent traversal surveys</a:t>
            </a:r>
            <a:r>
              <a:rPr lang="en-US" dirty="0"/>
              <a:t> for feature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25B05-FC57-311D-CA73-9D0FA6CBC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40E69E-E1F5-8398-F320-B8D550F51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1" y="3568298"/>
            <a:ext cx="10220632" cy="20584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FD877-D3EC-7E75-1B9A-8BDEC7604B7C}"/>
              </a:ext>
            </a:extLst>
          </p:cNvPr>
          <p:cNvSpPr txBox="1"/>
          <p:nvPr/>
        </p:nvSpPr>
        <p:spPr>
          <a:xfrm>
            <a:off x="8578830" y="6123543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Ludwig &amp; Mullainathan (2024, QJE)</a:t>
            </a:r>
          </a:p>
        </p:txBody>
      </p:sp>
      <p:pic>
        <p:nvPicPr>
          <p:cNvPr id="9" name="Picture 10" descr="An Introduction to Linear Algebra - Owlcation">
            <a:extLst>
              <a:ext uri="{FF2B5EF4-FFF2-40B4-BE49-F238E27FC236}">
                <a16:creationId xmlns:a16="http://schemas.microsoft.com/office/drawing/2014/main" id="{7EFF7BC7-8D4C-77E9-293E-6A38F5FF4B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4707254" y="1325563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AB6EEA1-CB39-380E-36F0-A53C40846478}"/>
              </a:ext>
            </a:extLst>
          </p:cNvPr>
          <p:cNvSpPr/>
          <p:nvPr/>
        </p:nvSpPr>
        <p:spPr>
          <a:xfrm>
            <a:off x="5752618" y="1226917"/>
            <a:ext cx="694481" cy="67133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BC2C5-C32C-52F7-A101-9BF368137EDD}"/>
              </a:ext>
            </a:extLst>
          </p:cNvPr>
          <p:cNvSpPr txBox="1"/>
          <p:nvPr/>
        </p:nvSpPr>
        <p:spPr>
          <a:xfrm>
            <a:off x="727346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DB211-E4FE-CEEC-F0EC-6497E3A5023F}"/>
              </a:ext>
            </a:extLst>
          </p:cNvPr>
          <p:cNvSpPr txBox="1"/>
          <p:nvPr/>
        </p:nvSpPr>
        <p:spPr>
          <a:xfrm>
            <a:off x="879449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8856F-4022-A91C-3723-7EFCECBE5B04}"/>
              </a:ext>
            </a:extLst>
          </p:cNvPr>
          <p:cNvSpPr txBox="1"/>
          <p:nvPr/>
        </p:nvSpPr>
        <p:spPr>
          <a:xfrm>
            <a:off x="1031552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AB02F-2DAA-5AB2-FE89-CAA8F34642FF}"/>
              </a:ext>
            </a:extLst>
          </p:cNvPr>
          <p:cNvSpPr txBox="1"/>
          <p:nvPr/>
        </p:nvSpPr>
        <p:spPr>
          <a:xfrm>
            <a:off x="1566657" y="137791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33B6C-7879-E1C2-5F16-AB10CD0E11F5}"/>
              </a:ext>
            </a:extLst>
          </p:cNvPr>
          <p:cNvSpPr txBox="1"/>
          <p:nvPr/>
        </p:nvSpPr>
        <p:spPr>
          <a:xfrm>
            <a:off x="3087687" y="137791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492FBE-EE3C-2A8C-385C-3887E57F0825}"/>
              </a:ext>
            </a:extLst>
          </p:cNvPr>
          <p:cNvSpPr txBox="1"/>
          <p:nvPr/>
        </p:nvSpPr>
        <p:spPr>
          <a:xfrm>
            <a:off x="4608717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BE8C0-4FC4-58E4-599A-B35547D1B4B5}"/>
              </a:ext>
            </a:extLst>
          </p:cNvPr>
          <p:cNvSpPr txBox="1"/>
          <p:nvPr/>
        </p:nvSpPr>
        <p:spPr>
          <a:xfrm>
            <a:off x="4298571" y="3244334"/>
            <a:ext cx="359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What is changing from left to right?</a:t>
            </a:r>
          </a:p>
        </p:txBody>
      </p:sp>
    </p:spTree>
    <p:extLst>
      <p:ext uri="{BB962C8B-B14F-4D97-AF65-F5344CB8AC3E}">
        <p14:creationId xmlns:p14="http://schemas.microsoft.com/office/powerpoint/2010/main" val="377996569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1BC5-4921-06D4-6616-1B2D479D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B767-5030-5759-B1CA-A2FD8D6A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Latent traversal surveys</a:t>
            </a:r>
            <a:r>
              <a:rPr lang="en-US" dirty="0"/>
              <a:t> for feature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D3921-3FFC-0D35-8E7F-EE5E33C59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10" descr="An Introduction to Linear Algebra - Owlcation">
            <a:extLst>
              <a:ext uri="{FF2B5EF4-FFF2-40B4-BE49-F238E27FC236}">
                <a16:creationId xmlns:a16="http://schemas.microsoft.com/office/drawing/2014/main" id="{B8E98CFB-E71A-0DC3-598A-831BD9221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4707254" y="1325563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C25FD24-958F-3F3F-D4DA-C5BA4208AA99}"/>
              </a:ext>
            </a:extLst>
          </p:cNvPr>
          <p:cNvSpPr/>
          <p:nvPr/>
        </p:nvSpPr>
        <p:spPr>
          <a:xfrm>
            <a:off x="5752618" y="1226917"/>
            <a:ext cx="694481" cy="67133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7D968-5D08-1E38-3FF6-12F8170EBA5D}"/>
              </a:ext>
            </a:extLst>
          </p:cNvPr>
          <p:cNvSpPr txBox="1"/>
          <p:nvPr/>
        </p:nvSpPr>
        <p:spPr>
          <a:xfrm>
            <a:off x="727346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875669-FD68-CDDE-1D53-C8E54C8B6A41}"/>
              </a:ext>
            </a:extLst>
          </p:cNvPr>
          <p:cNvSpPr txBox="1"/>
          <p:nvPr/>
        </p:nvSpPr>
        <p:spPr>
          <a:xfrm>
            <a:off x="879449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9F32B-4372-E6A8-90C3-0082FBCE16C0}"/>
              </a:ext>
            </a:extLst>
          </p:cNvPr>
          <p:cNvSpPr txBox="1"/>
          <p:nvPr/>
        </p:nvSpPr>
        <p:spPr>
          <a:xfrm>
            <a:off x="1031552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C88CE-681B-AF69-943A-E16DA78F9C68}"/>
              </a:ext>
            </a:extLst>
          </p:cNvPr>
          <p:cNvSpPr txBox="1"/>
          <p:nvPr/>
        </p:nvSpPr>
        <p:spPr>
          <a:xfrm>
            <a:off x="1566657" y="137791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987083-4C74-9C61-B860-6CA282DB56C0}"/>
              </a:ext>
            </a:extLst>
          </p:cNvPr>
          <p:cNvSpPr txBox="1"/>
          <p:nvPr/>
        </p:nvSpPr>
        <p:spPr>
          <a:xfrm>
            <a:off x="3087687" y="137791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A23DD6-9DA5-F53B-78E7-9B332A43A131}"/>
              </a:ext>
            </a:extLst>
          </p:cNvPr>
          <p:cNvSpPr txBox="1"/>
          <p:nvPr/>
        </p:nvSpPr>
        <p:spPr>
          <a:xfrm>
            <a:off x="4608717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0</a:t>
            </a:r>
          </a:p>
        </p:txBody>
      </p:sp>
      <p:pic>
        <p:nvPicPr>
          <p:cNvPr id="3" name="Picture 2" descr="Two cars parked in front of each other&#10;&#10;Description automatically generated">
            <a:extLst>
              <a:ext uri="{FF2B5EF4-FFF2-40B4-BE49-F238E27FC236}">
                <a16:creationId xmlns:a16="http://schemas.microsoft.com/office/drawing/2014/main" id="{1E0CD60B-F879-163F-CC2E-2A4A35DB1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31" t="31932" b="18660"/>
          <a:stretch/>
        </p:blipFill>
        <p:spPr>
          <a:xfrm>
            <a:off x="1065636" y="3644836"/>
            <a:ext cx="10138981" cy="11355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241BBB-A357-6E48-67FA-53B650833133}"/>
              </a:ext>
            </a:extLst>
          </p:cNvPr>
          <p:cNvSpPr txBox="1"/>
          <p:nvPr/>
        </p:nvSpPr>
        <p:spPr>
          <a:xfrm>
            <a:off x="4298571" y="3244334"/>
            <a:ext cx="359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What is changing from left to right?</a:t>
            </a:r>
          </a:p>
        </p:txBody>
      </p:sp>
    </p:spTree>
    <p:extLst>
      <p:ext uri="{BB962C8B-B14F-4D97-AF65-F5344CB8AC3E}">
        <p14:creationId xmlns:p14="http://schemas.microsoft.com/office/powerpoint/2010/main" val="6229703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EE54-BEFB-A1FA-1CEA-6C745CC3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Where we’re at now: grid search for stable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206C-FB8F-D01A-0177-A7C1A7A1A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 descr="A collage of different cars&#10;&#10;Description automatically generated">
            <a:extLst>
              <a:ext uri="{FF2B5EF4-FFF2-40B4-BE49-F238E27FC236}">
                <a16:creationId xmlns:a16="http://schemas.microsoft.com/office/drawing/2014/main" id="{5238B4C9-7A82-97F3-CAFB-605B4F92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141" y="954391"/>
            <a:ext cx="2150576" cy="5376441"/>
          </a:xfrm>
          <a:prstGeom prst="rect">
            <a:avLst/>
          </a:prstGeom>
        </p:spPr>
      </p:pic>
      <p:pic>
        <p:nvPicPr>
          <p:cNvPr id="12" name="Picture 11" descr="A collage of different cars&#10;&#10;Description automatically generated">
            <a:extLst>
              <a:ext uri="{FF2B5EF4-FFF2-40B4-BE49-F238E27FC236}">
                <a16:creationId xmlns:a16="http://schemas.microsoft.com/office/drawing/2014/main" id="{26668F48-168E-7039-D4A4-7258A6816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312" y="954391"/>
            <a:ext cx="2150576" cy="5376439"/>
          </a:xfrm>
          <a:prstGeom prst="rect">
            <a:avLst/>
          </a:prstGeom>
        </p:spPr>
      </p:pic>
      <p:pic>
        <p:nvPicPr>
          <p:cNvPr id="14" name="Picture 13" descr="A group of cars in different colors&#10;&#10;Description automatically generated">
            <a:extLst>
              <a:ext uri="{FF2B5EF4-FFF2-40B4-BE49-F238E27FC236}">
                <a16:creationId xmlns:a16="http://schemas.microsoft.com/office/drawing/2014/main" id="{4602936D-DA39-A010-7950-B77DFF2F8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8" y="954389"/>
            <a:ext cx="2150576" cy="5376441"/>
          </a:xfrm>
          <a:prstGeom prst="rect">
            <a:avLst/>
          </a:prstGeom>
        </p:spPr>
      </p:pic>
      <p:pic>
        <p:nvPicPr>
          <p:cNvPr id="16" name="Picture 15" descr="A group of cars in different colors&#10;&#10;Description automatically generated">
            <a:extLst>
              <a:ext uri="{FF2B5EF4-FFF2-40B4-BE49-F238E27FC236}">
                <a16:creationId xmlns:a16="http://schemas.microsoft.com/office/drawing/2014/main" id="{DD8B15E5-B738-D7DF-983D-903C9FB55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859" y="954389"/>
            <a:ext cx="2146843" cy="53671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BEF7D7-214A-2E6D-EDF5-163533DECA25}"/>
              </a:ext>
            </a:extLst>
          </p:cNvPr>
          <p:cNvSpPr txBox="1"/>
          <p:nvPr/>
        </p:nvSpPr>
        <p:spPr>
          <a:xfrm>
            <a:off x="0" y="6277431"/>
            <a:ext cx="53094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00" dirty="0">
                <a:latin typeface="Franklin Gothic Book" panose="020B0503020102020204" pitchFamily="34" charset="0"/>
              </a:rPr>
              <a:t>res256_lat128_ep200_bat32_lrn0.00015_rec50.0_per2.5_gan0.1_kld0.75(tc0.02_mi0.2_dk1e-05)_cls0.25_pat16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151DF-A617-6AAB-0256-BE72AD41B3D8}"/>
              </a:ext>
            </a:extLst>
          </p:cNvPr>
          <p:cNvSpPr txBox="1"/>
          <p:nvPr/>
        </p:nvSpPr>
        <p:spPr>
          <a:xfrm>
            <a:off x="6882532" y="6277431"/>
            <a:ext cx="53094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00" dirty="0">
                <a:latin typeface="Franklin Gothic Book" panose="020B0503020102020204" pitchFamily="34" charset="0"/>
              </a:rPr>
              <a:t>res256_lat128_ep200_bat71_lrn0.0001_rec100.0_per5.0_gan0.2_kld0.75(tc0.002_mi0.1_dk2e-05)_cls0.2_pat16</a:t>
            </a:r>
          </a:p>
        </p:txBody>
      </p:sp>
    </p:spTree>
    <p:extLst>
      <p:ext uri="{BB962C8B-B14F-4D97-AF65-F5344CB8AC3E}">
        <p14:creationId xmlns:p14="http://schemas.microsoft.com/office/powerpoint/2010/main" val="7229565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B9AB-656A-1823-0FB4-509A8126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0E7B-7457-C761-C720-2A1413A7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latent dimensions correlate with </a:t>
            </a:r>
            <a:r>
              <a:rPr lang="en-US" dirty="0" err="1"/>
              <a:t>NAcc</a:t>
            </a:r>
            <a:r>
              <a:rPr lang="en-US" dirty="0"/>
              <a:t> activity?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</a:t>
            </a:r>
            <a:r>
              <a:rPr lang="en-US" dirty="0">
                <a:solidFill>
                  <a:schemeClr val="accent5"/>
                </a:solidFill>
              </a:rPr>
              <a:t>latent traversal surveys</a:t>
            </a:r>
            <a:r>
              <a:rPr lang="en-US" dirty="0"/>
              <a:t> to give interpretation to these important dimensions.</a:t>
            </a:r>
          </a:p>
          <a:p>
            <a:pPr marL="514350" indent="-514350">
              <a:buAutoNum type="arabicPeriod"/>
            </a:pPr>
            <a:r>
              <a:rPr lang="en-US" dirty="0"/>
              <a:t>Design </a:t>
            </a:r>
            <a:r>
              <a:rPr lang="en-US" dirty="0" err="1">
                <a:solidFill>
                  <a:schemeClr val="accent2"/>
                </a:solidFill>
              </a:rPr>
              <a:t>NAcc</a:t>
            </a:r>
            <a:r>
              <a:rPr lang="en-US" dirty="0">
                <a:solidFill>
                  <a:schemeClr val="accent2"/>
                </a:solidFill>
              </a:rPr>
              <a:t>-inspired surveys </a:t>
            </a:r>
            <a:r>
              <a:rPr lang="en-US" dirty="0"/>
              <a:t>(i.e. judgements about these important features). Outperform hypothetical purchasing decisions and liking ratings?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64BF1-ACF9-527A-39CC-A5270848E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A notebook with writing on it&#10;&#10;Description automatically generated">
            <a:extLst>
              <a:ext uri="{FF2B5EF4-FFF2-40B4-BE49-F238E27FC236}">
                <a16:creationId xmlns:a16="http://schemas.microsoft.com/office/drawing/2014/main" id="{49AC067D-92F5-B758-8725-70C52F81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41" b="44988"/>
          <a:stretch/>
        </p:blipFill>
        <p:spPr>
          <a:xfrm>
            <a:off x="1250066" y="2060291"/>
            <a:ext cx="8922628" cy="172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264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Franklin Gothic Book" panose="020B05030201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enden's Rotman PPT Template" id="{2A215617-DE04-104C-BBA7-A4FBC50BE17B}" vid="{923497FB-8442-7E45-8D21-34EE6D6B4C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</TotalTime>
  <Words>620</Words>
  <Application>Microsoft Macintosh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Cambria Math</vt:lpstr>
      <vt:lpstr>Franklin Gothic Book</vt:lpstr>
      <vt:lpstr>Franklin Gothic Medium</vt:lpstr>
      <vt:lpstr>Wingdings</vt:lpstr>
      <vt:lpstr>Office Theme</vt:lpstr>
      <vt:lpstr>Interpretable Visual Features for Demand Neuroforecasting</vt:lpstr>
      <vt:lpstr>End Goal (replace with Key Takeaways later)</vt:lpstr>
      <vt:lpstr>PowerPoint Presentation</vt:lpstr>
      <vt:lpstr>PowerPoint Presentation</vt:lpstr>
      <vt:lpstr>Why does NAcc activity contain signal about market-level outcomes?</vt:lpstr>
      <vt:lpstr>Variational autoencoders for feature discovery</vt:lpstr>
      <vt:lpstr>Variational autoencoders for feature discovery</vt:lpstr>
      <vt:lpstr>Variational autoencoders for feature discovery</vt:lpstr>
      <vt:lpstr>Latent traversal surveys for feature interpretation</vt:lpstr>
      <vt:lpstr>Latent traversal surveys for feature interpretation</vt:lpstr>
      <vt:lpstr>Where we’re at now: grid search for stable training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Eum, Brenden</dc:creator>
  <cp:lastModifiedBy>Eum, Brenden</cp:lastModifiedBy>
  <cp:revision>36</cp:revision>
  <dcterms:created xsi:type="dcterms:W3CDTF">2024-11-20T16:59:17Z</dcterms:created>
  <dcterms:modified xsi:type="dcterms:W3CDTF">2025-05-05T22:38:04Z</dcterms:modified>
</cp:coreProperties>
</file>