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/>
    <p:restoredTop sz="94602"/>
  </p:normalViewPr>
  <p:slideViewPr>
    <p:cSldViewPr snapToGrid="0">
      <p:cViewPr varScale="1">
        <p:scale>
          <a:sx n="111" d="100"/>
          <a:sy n="111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763FE-5FB9-BA4F-9EC8-81C8F255EB26}" type="datetimeFigureOut">
              <a:rPr lang="en-US" smtClean="0"/>
              <a:t>6/17/25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34AB9-B934-5D47-AD72-57FFB91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1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BF05-7065-A0A7-B54A-DDB380112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45" y="1467939"/>
            <a:ext cx="12006308" cy="2244689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B8E3E-366C-0C8B-9B5B-1DB877216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615" y="4042878"/>
            <a:ext cx="64590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6D873-DFEC-9B29-32EB-B3293B3FE9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645" y="6534364"/>
            <a:ext cx="1441807" cy="3030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97D464-A7C3-8EAE-14F7-CCBA41ABA4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888" t="23890" r="8223" b="22777"/>
          <a:stretch/>
        </p:blipFill>
        <p:spPr>
          <a:xfrm>
            <a:off x="191394" y="116963"/>
            <a:ext cx="4061639" cy="1020726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B78610D-B79C-981E-B8C9-77547AC543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4975" y="199155"/>
            <a:ext cx="1595357" cy="94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2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7E44-C4D2-8C77-6662-4A58D8B3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C59A6-0019-9C86-3A90-F3A8FDC9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471CC1-614E-77AB-60DD-FF436A9851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93FFB1B-3394-7E84-8548-A54CFFA0AA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583D2-79B2-53A6-70B4-B30859B600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93230316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A9F6-D00E-D472-5A75-F4593D90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768350"/>
            <a:ext cx="11959119" cy="2852737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E9F6D-A817-89F5-E231-C52DBEFE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11099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5A947F-F8F5-6BBF-4958-3C903A6386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4534B6-42F5-C9A3-C765-C590331A81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0FC2E-4B73-FF2D-CFB6-0F99DC5221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36585622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FFD1-0DD8-69E0-BB3A-761C62F6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9860-B482-9C5B-9819-1F893FF0C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688" y="1325562"/>
            <a:ext cx="5945312" cy="515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ECCCE-ED97-3D06-7D9A-D63B22FF4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33712"/>
            <a:ext cx="5945312" cy="5143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0F92C0-F18F-0426-7EDD-740D6C6347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84002B3-8776-16AE-BBAC-B76BA14F45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B6C2DB-8C43-A1BC-2D1F-6ACEA21A1A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190039600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2083-0B16-896B-FF62-88F413A8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5555"/>
            <a:ext cx="11948845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F0993-4260-F0A3-3390-348E9774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16" y="1331118"/>
            <a:ext cx="5982984" cy="1173957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3982F-6EC9-B243-044E-56DE59396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16" y="2505074"/>
            <a:ext cx="5982984" cy="397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8FB2A-004D-643B-04DD-6B73E5EB6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14606" y="1331118"/>
            <a:ext cx="5947255" cy="1173957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81CE4-9C47-F297-D5CE-36F4ACA37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513224"/>
            <a:ext cx="5965861" cy="3971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7D7271-4313-975A-7A27-AD753373E1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550B55D-BC7E-E95E-F451-A751468F19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56CDD-C2DC-6B99-1CE0-33B83BB094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393776545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785A-CD5E-26F4-ACA2-0F1F37CE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F63456-5A9A-9318-1CA2-398889D2F1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EE90BF7-E079-0B3E-1DB0-B7C80D18BB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CE4B6A-1E3A-D03C-7A67-C733342FD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44246821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571A03-EFA4-F56A-E7BE-178015358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12A8160-E1E0-9BC8-C8ED-20356E03B6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A1DE4-DAFA-84C9-A9E4-97C6D1D4C7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75580229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AAD2-BB18-2147-ABB2-C2E3874A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C012-B699-D959-BB38-84851F09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D3ED7-6BCA-C8AB-8BB3-690A8B1B9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29634A-F351-A305-2E7D-F3086168BD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12CF9C-8828-8016-07E9-6D2A9EE99F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EB71DD-A13A-920E-AAD1-908BC1E36F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235076749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1608-1B89-1D30-AD4D-14E33E37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533E5-759F-653B-572D-F19B649A5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DC844-9C6F-7FA0-BAEA-5DCDFA18A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209EC0-9A8D-6349-06E1-49A7DB45F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7B16CB-2B08-0BDC-15C7-60D34E9406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7F4C5-47D7-D0F8-4D9C-6905DD725A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236173411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B973-A78A-FB36-F7C2-B2D4AF08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C27FD-A248-1F79-E749-66560FD53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3DA26E2-232F-48C0-1646-09D870C09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B869E57-5946-18FC-9FBA-338EE54344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9D080-06FD-F2DC-B3FE-26BBDB4BB2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402775816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D2BA5-9E57-14E2-0876-5EE8DC82A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C4DB8-3A75-2717-7ADF-D7EF407FC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B80334-B7C2-ADF1-D0AC-726B5424C6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A6D87BB-2C9E-EBE8-873E-E665FA430C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8DF589-AFFC-03AA-1B67-5110BA1B11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16345953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8A1EDB-56B6-1BFB-E93E-034B86762F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6492874"/>
            <a:ext cx="12192001" cy="3865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8FA27-8733-C15E-7046-EDEF1799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88" y="0"/>
            <a:ext cx="1188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443E4-C209-968E-3367-EE461C177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688" y="1325562"/>
            <a:ext cx="11887200" cy="515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3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ranklin Gothic Book" panose="020B0503020102020204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4" pos="7680" userDrawn="1">
          <p15:clr>
            <a:srgbClr val="F26B43"/>
          </p15:clr>
        </p15:guide>
        <p15:guide id="5" orient="horz" pos="408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orient="horz" pos="4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6F16-FDC8-9F49-E68B-E14EC364C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TRI Update:</a:t>
            </a:r>
            <a:br>
              <a:rPr lang="en-US" dirty="0"/>
            </a:br>
            <a:r>
              <a:rPr lang="en-US" dirty="0" err="1"/>
              <a:t>NAcc</a:t>
            </a:r>
            <a:r>
              <a:rPr lang="en-US" dirty="0"/>
              <a:t> Regression Model Recovery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FE754-CB11-279B-47F4-2909D474F9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June 17, 2025</a:t>
            </a:r>
          </a:p>
        </p:txBody>
      </p:sp>
    </p:spTree>
    <p:extLst>
      <p:ext uri="{BB962C8B-B14F-4D97-AF65-F5344CB8AC3E}">
        <p14:creationId xmlns:p14="http://schemas.microsoft.com/office/powerpoint/2010/main" val="15613343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B9AB-656A-1823-0FB4-509A8126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0E7B-7457-C761-C720-2A1413A7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latent dimensions correlate with </a:t>
            </a:r>
            <a:r>
              <a:rPr lang="en-US" dirty="0" err="1"/>
              <a:t>NAcc</a:t>
            </a:r>
            <a:r>
              <a:rPr lang="en-US" dirty="0"/>
              <a:t> activity?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</a:t>
            </a:r>
            <a:r>
              <a:rPr lang="en-US" dirty="0">
                <a:solidFill>
                  <a:schemeClr val="accent5"/>
                </a:solidFill>
              </a:rPr>
              <a:t>latent traversal surveys</a:t>
            </a:r>
            <a:r>
              <a:rPr lang="en-US" dirty="0"/>
              <a:t> to give interpretation to the significant dimensions.</a:t>
            </a:r>
          </a:p>
          <a:p>
            <a:pPr marL="514350" indent="-514350">
              <a:buAutoNum type="arabicPeriod"/>
            </a:pPr>
            <a:r>
              <a:rPr lang="en-US" dirty="0"/>
              <a:t>Design </a:t>
            </a:r>
            <a:r>
              <a:rPr lang="en-US" dirty="0" err="1">
                <a:solidFill>
                  <a:schemeClr val="accent2"/>
                </a:solidFill>
              </a:rPr>
              <a:t>NAcc</a:t>
            </a:r>
            <a:r>
              <a:rPr lang="en-US" dirty="0">
                <a:solidFill>
                  <a:schemeClr val="accent2"/>
                </a:solidFill>
              </a:rPr>
              <a:t>-inspired surveys </a:t>
            </a:r>
            <a:r>
              <a:rPr lang="en-US" dirty="0"/>
              <a:t>(e.g. judgements about these significant features). Outperform hypothetical purchasing decisions and liking ratings?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64BF1-ACF9-527A-39CC-A5270848E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 descr="A notebook with writing on it&#10;&#10;Description automatically generated">
            <a:extLst>
              <a:ext uri="{FF2B5EF4-FFF2-40B4-BE49-F238E27FC236}">
                <a16:creationId xmlns:a16="http://schemas.microsoft.com/office/drawing/2014/main" id="{49AC067D-92F5-B758-8725-70C52F81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41" b="44988"/>
          <a:stretch/>
        </p:blipFill>
        <p:spPr>
          <a:xfrm>
            <a:off x="1250066" y="2060291"/>
            <a:ext cx="8922628" cy="172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264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D4EC-10B5-FE83-C571-4171EFAD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How do we regress </a:t>
            </a:r>
            <a:r>
              <a:rPr lang="en-US" dirty="0" err="1"/>
              <a:t>NAcc</a:t>
            </a:r>
            <a:r>
              <a:rPr lang="en-US" dirty="0"/>
              <a:t> activity on our latent distribution?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57D00B-89E1-D42A-03CE-C0A3C1B4F5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Latent distribution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Supervised networks compress body, brand, and sales information into first 16 dimensions.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57D00B-89E1-D42A-03CE-C0A3C1B4F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1" t="-1232" r="-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BBA80-E17F-1D11-7797-06DE2B504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926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E5EFD-FE3B-1F23-00C6-90BAF475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D039-0E1C-502B-265F-C5BF566B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How do we regress </a:t>
            </a:r>
            <a:r>
              <a:rPr lang="en-US" dirty="0" err="1"/>
              <a:t>NAcc</a:t>
            </a:r>
            <a:r>
              <a:rPr lang="en-US" dirty="0"/>
              <a:t> activity on our latent vectors?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CC3241-8066-CF47-95A5-6947BF2395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u="sng" dirty="0"/>
                  <a:t>Option A</a:t>
                </a:r>
                <a:r>
                  <a:rPr lang="en-US" dirty="0"/>
                  <a:t>: Plug in the summary statistics</a:t>
                </a:r>
                <a:endParaRPr lang="en-US" b="1" u="sng" dirty="0"/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𝑁𝐴𝐶𝐶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CC3241-8066-CF47-95A5-6947BF2395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4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527C0-967B-C136-A014-C39612864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781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8F8C-FF7C-65E0-3AFF-41E3C201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C0E9-8D30-ECEB-B851-F842C794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How do we regress </a:t>
            </a:r>
            <a:r>
              <a:rPr lang="en-US" dirty="0" err="1"/>
              <a:t>NAcc</a:t>
            </a:r>
            <a:r>
              <a:rPr lang="en-US" dirty="0"/>
              <a:t> activity on our latent vectors?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DAD247-410C-80DB-FD23-31BCCB2F4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Option B</a:t>
                </a:r>
                <a:r>
                  <a:rPr lang="en-US" dirty="0"/>
                  <a:t>: Sample from the latent distribution</a:t>
                </a:r>
                <a:endParaRPr lang="en-US" b="1" u="sng" dirty="0"/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𝑆𝑎𝑚𝑝𝑙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1,16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𝑆𝑎𝑚𝑝𝑙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,16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…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𝑆𝑎𝑚𝑝𝑙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,16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𝑁𝐴𝐶𝐶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.,16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DAD247-410C-80DB-FD23-31BCCB2F4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76C83-74C7-EDAF-9E00-59DD43A16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8119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988A-F3BF-560F-125B-3256A0FA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77A03-85E2-3F0C-96FE-CA72385F59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Simulate latent vectors.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Simulate </a:t>
                </a:r>
                <a:r>
                  <a:rPr lang="en-US" dirty="0" err="1"/>
                  <a:t>NAcc</a:t>
                </a:r>
                <a:r>
                  <a:rPr lang="en-US" dirty="0"/>
                  <a:t> activity using some latent vectors.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𝑁𝐴𝑐𝑐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77A03-85E2-3F0C-96FE-CA72385F5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1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AB12A-5ECE-837E-5A8E-F21DD7DAD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1C632-EC3B-F747-FBEF-A76378D4F2F6}"/>
              </a:ext>
            </a:extLst>
          </p:cNvPr>
          <p:cNvSpPr txBox="1"/>
          <p:nvPr/>
        </p:nvSpPr>
        <p:spPr>
          <a:xfrm rot="16200000">
            <a:off x="3988662" y="2900621"/>
            <a:ext cx="788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C cars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EA111-7D65-D62D-1224-14D775968A9F}"/>
              </a:ext>
            </a:extLst>
          </p:cNvPr>
          <p:cNvSpPr txBox="1"/>
          <p:nvPr/>
        </p:nvSpPr>
        <p:spPr>
          <a:xfrm>
            <a:off x="5036530" y="1816760"/>
            <a:ext cx="2115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4 latent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6D0170-7429-EB3B-E793-2DF3B9FDB6AA}"/>
                  </a:ext>
                </a:extLst>
              </p:cNvPr>
              <p:cNvSpPr txBox="1"/>
              <p:nvPr/>
            </p:nvSpPr>
            <p:spPr>
              <a:xfrm>
                <a:off x="8044132" y="2900621"/>
                <a:ext cx="1433469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.,.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dirty="0">
                  <a:latin typeface="Franklin Gothic Book" panose="020B05030201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6D0170-7429-EB3B-E793-2DF3B9FD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132" y="2900621"/>
                <a:ext cx="1433469" cy="381515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5142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BB73-8ABE-1BC5-458C-5C385E30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E14C-6B5E-911E-352B-DE4F7A224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0: Using true latent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759B43-91FD-141B-41C4-96A0DE90F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Leave-one-out cross-validation (LOOCV)</a:t>
                </a:r>
              </a:p>
              <a:p>
                <a:r>
                  <a:rPr lang="en-US" dirty="0"/>
                  <a:t>Elastic net regression </a:t>
                </a:r>
              </a:p>
              <a:p>
                <a:pPr lvl="1"/>
                <a:r>
                  <a:rPr lang="en-US" dirty="0"/>
                  <a:t>Mix of ridge and lasso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close to 0: ridge; close to 1: lasso.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No surprises</a:t>
                </a:r>
              </a:p>
              <a:p>
                <a:pPr lvl="1"/>
                <a:r>
                  <a:rPr lang="en-US" dirty="0"/>
                  <a:t>(Intercept) 1.000652 </a:t>
                </a:r>
              </a:p>
              <a:p>
                <a:pPr lvl="1"/>
                <a:r>
                  <a:rPr lang="en-US" dirty="0"/>
                  <a:t>X1 1.928320 </a:t>
                </a:r>
              </a:p>
              <a:p>
                <a:pPr lvl="1"/>
                <a:r>
                  <a:rPr lang="en-US" dirty="0"/>
                  <a:t>X2 2.917662 </a:t>
                </a:r>
              </a:p>
              <a:p>
                <a:pPr lvl="1"/>
                <a:r>
                  <a:rPr lang="en-US" dirty="0"/>
                  <a:t>X3 .</a:t>
                </a:r>
              </a:p>
              <a:p>
                <a:pPr lvl="1"/>
                <a:r>
                  <a:rPr lang="en-US" dirty="0"/>
                  <a:t>X4 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759B43-91FD-141B-41C4-96A0DE90F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1" t="-1232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E0CAD-CDFA-3958-5F73-A73DEFAC2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D4DD85-F007-1C9E-BE63-5F8E45D00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586" y="2230744"/>
            <a:ext cx="5116975" cy="365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603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9063-C044-492E-FD05-2FD1E1F6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1: Sampling w Precise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084ED-4E5E-E7BE-FFCB-8A85DA5F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Fix latent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sd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to {0.2, 0.5}.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Latent mean for each car is equal to its actual value at that dimension.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6088-7FB7-C07C-9D10-2BA338F32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 descr="A diagram of equations&#10;&#10;Description automatically generated with medium confidence">
            <a:extLst>
              <a:ext uri="{FF2B5EF4-FFF2-40B4-BE49-F238E27FC236}">
                <a16:creationId xmlns:a16="http://schemas.microsoft.com/office/drawing/2014/main" id="{5DC6230B-CC32-2FB2-EF6F-D8551723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8" y="2941638"/>
            <a:ext cx="5918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12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C1AA-2408-C3A7-912C-74566FB5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9D29-0289-4DC6-F7C8-C09A1E16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1: Sampling w Precise Means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B14B-26D9-D904-5098-063D17421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EA36217-30C1-0B70-7FF5-D57FFB645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159" y="1166844"/>
            <a:ext cx="6992257" cy="499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1431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73D7-EF89-C91B-90F4-6946663F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E923-121C-BA8E-00FA-0F636713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2: Sampling w Noisy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94777-D955-E583-DE24-E05B75062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What if our latent means are not centered on the true latent value of the car? We introduce noise to the mean,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lat_mu_noise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Theoretically, this should be the same thing as adding noise to the latent distribution. This is because X~N(m1, v1), where m1~N(m2, v2), is the same as X~N(m2, v1+v2).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48CDC-B63E-C129-192E-6E8201E6A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 descr="A diagram of equations&#10;&#10;Description automatically generated with medium confidence">
            <a:extLst>
              <a:ext uri="{FF2B5EF4-FFF2-40B4-BE49-F238E27FC236}">
                <a16:creationId xmlns:a16="http://schemas.microsoft.com/office/drawing/2014/main" id="{AACB31F1-F637-3A71-81CC-1F6DAA01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88" y="3565753"/>
            <a:ext cx="5918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0060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E546-E002-FE57-2DB8-DEA28F6E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2: Sampling w Noisy Means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BD1E0-9B93-46F6-AA6D-07CCD92F9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BFB48DB-FADA-49D8-C54C-A5B4926B7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216" y="1044315"/>
            <a:ext cx="7384143" cy="527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19203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916D-607B-9130-09C4-80EC90E5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samples? Uneven latent variances?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F09171-7AF4-BB90-8E61-AE04C8406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AFE9903-6873-02CE-2EBD-9EA7A559A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26" y="1959686"/>
            <a:ext cx="4572000" cy="326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3734FB8-FE6C-4715-A19B-903B67DA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974" y="1959686"/>
            <a:ext cx="4572000" cy="326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013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A7A4-3FA1-7B10-EF1E-F444EC4B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of latent variance?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3E1AAF-4CF5-3D7C-8CCE-DE0252614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B2EB3E9-9711-2C42-7CF7-52D9E2224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1325563"/>
            <a:ext cx="6643914" cy="474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2486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BEE3-9628-63C2-B916-7CA3850E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X: Latent summary stats as regressors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A946-6270-5E5F-FCC7-868D5B74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some noise to the true latent summary stats before regression.</a:t>
            </a:r>
          </a:p>
          <a:p>
            <a:r>
              <a:rPr lang="en-US" dirty="0"/>
              <a:t>No bueno.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7586-D67B-60D4-498B-538E28A80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ACBA000-1F4F-725D-AD47-C8FF48D33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326" y="1830162"/>
            <a:ext cx="6527798" cy="466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1387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0656-B1A0-C786-E955-58A14801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Extras: Latent Traversals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E10DE-85D2-82FC-37DC-1CD479E16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 descr="A car on a white background&#10;&#10;Description automatically generated">
            <a:extLst>
              <a:ext uri="{FF2B5EF4-FFF2-40B4-BE49-F238E27FC236}">
                <a16:creationId xmlns:a16="http://schemas.microsoft.com/office/drawing/2014/main" id="{1282358E-5FAA-18F4-9EEC-C476E0979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7284"/>
            <a:ext cx="12149147" cy="1735591"/>
          </a:xfrm>
          <a:prstGeom prst="rect">
            <a:avLst/>
          </a:prstGeom>
        </p:spPr>
      </p:pic>
      <p:pic>
        <p:nvPicPr>
          <p:cNvPr id="9" name="Picture 8" descr="A car on a white background&#10;&#10;Description automatically generated">
            <a:extLst>
              <a:ext uri="{FF2B5EF4-FFF2-40B4-BE49-F238E27FC236}">
                <a16:creationId xmlns:a16="http://schemas.microsoft.com/office/drawing/2014/main" id="{13319233-53B6-DAEA-B6FC-FDF66E7D3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5" y="1066250"/>
            <a:ext cx="12149146" cy="1735591"/>
          </a:xfrm>
          <a:prstGeom prst="rect">
            <a:avLst/>
          </a:prstGeom>
        </p:spPr>
      </p:pic>
      <p:pic>
        <p:nvPicPr>
          <p:cNvPr id="11" name="Picture 10" descr="A car on a white background&#10;&#10;Description automatically generated">
            <a:extLst>
              <a:ext uri="{FF2B5EF4-FFF2-40B4-BE49-F238E27FC236}">
                <a16:creationId xmlns:a16="http://schemas.microsoft.com/office/drawing/2014/main" id="{745537B3-8C88-069C-ED0A-89A7D679C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5" y="2801841"/>
            <a:ext cx="12149146" cy="173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1338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63D5-EE69-5AF7-4846-3972F363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60A71-2407-4AAC-A155-4F5CA4B8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Incorporating a supervised network that takes samples from the first 16 dimensions of the latent distribution and tries to predict sales data for each year-make-model. This should force the first 16 dimensions to capture some visual elements that predict sales.</a:t>
            </a:r>
          </a:p>
          <a:p>
            <a:r>
              <a:rPr lang="en-US" dirty="0"/>
              <a:t>Can use a diffusion network to clean up the latent traversals.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09A01-FFEE-C61E-6CBA-3F48B322B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48075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Franklin Gothic Book" panose="020B05030201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enden's Rotman PPT Template" id="{2A215617-DE04-104C-BBA7-A4FBC50BE17B}" vid="{923497FB-8442-7E45-8D21-34EE6D6B4C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</TotalTime>
  <Words>514</Words>
  <Application>Microsoft Macintosh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Cambria Math</vt:lpstr>
      <vt:lpstr>Franklin Gothic Book</vt:lpstr>
      <vt:lpstr>Franklin Gothic Medium</vt:lpstr>
      <vt:lpstr>Helvetica Neue</vt:lpstr>
      <vt:lpstr>Office Theme</vt:lpstr>
      <vt:lpstr>TRI Update: NAcc Regression Model Recovery</vt:lpstr>
      <vt:lpstr>Next Steps</vt:lpstr>
      <vt:lpstr>Problem: How do we regress NAcc activity on our latent distribution?</vt:lpstr>
      <vt:lpstr>Problem: How do we regress NAcc activity on our latent vectors?</vt:lpstr>
      <vt:lpstr>Problem: How do we regress NAcc activity on our latent vectors?</vt:lpstr>
      <vt:lpstr>Simulate Data</vt:lpstr>
      <vt:lpstr>Case 0: Using true latent vectors</vt:lpstr>
      <vt:lpstr>Case 1: Sampling w Precise Means</vt:lpstr>
      <vt:lpstr>Case 1: Sampling w Precise Means</vt:lpstr>
      <vt:lpstr>Case 2: Sampling w Noisy Means</vt:lpstr>
      <vt:lpstr>Case 2: Sampling w Noisy Means</vt:lpstr>
      <vt:lpstr>More samples? Uneven latent variances?</vt:lpstr>
      <vt:lpstr>Limit of latent variance?</vt:lpstr>
      <vt:lpstr>Case X: Latent summary stats as regressors</vt:lpstr>
      <vt:lpstr>Extras: Latent Traversals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Eum, Brenden</dc:creator>
  <cp:lastModifiedBy>Eum, Brenden</cp:lastModifiedBy>
  <cp:revision>9</cp:revision>
  <dcterms:created xsi:type="dcterms:W3CDTF">2025-06-17T15:25:28Z</dcterms:created>
  <dcterms:modified xsi:type="dcterms:W3CDTF">2025-06-17T18:02:28Z</dcterms:modified>
</cp:coreProperties>
</file>